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13"/>
  </p:notesMasterIdLst>
  <p:sldIdLst>
    <p:sldId id="256" r:id="rId2"/>
    <p:sldId id="270" r:id="rId3"/>
    <p:sldId id="279" r:id="rId4"/>
    <p:sldId id="277" r:id="rId5"/>
    <p:sldId id="274" r:id="rId6"/>
    <p:sldId id="275" r:id="rId7"/>
    <p:sldId id="269" r:id="rId8"/>
    <p:sldId id="272" r:id="rId9"/>
    <p:sldId id="267" r:id="rId10"/>
    <p:sldId id="273" r:id="rId11"/>
    <p:sldId id="27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1A81937-B53A-4391-8C74-62ABBF5DF6BA}">
          <p14:sldIdLst>
            <p14:sldId id="256"/>
            <p14:sldId id="270"/>
            <p14:sldId id="279"/>
            <p14:sldId id="277"/>
            <p14:sldId id="274"/>
            <p14:sldId id="275"/>
            <p14:sldId id="269"/>
            <p14:sldId id="272"/>
            <p14:sldId id="267"/>
            <p14:sldId id="273"/>
            <p14:sldId id="27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5033" autoAdjust="0"/>
  </p:normalViewPr>
  <p:slideViewPr>
    <p:cSldViewPr snapToGrid="0">
      <p:cViewPr varScale="1">
        <p:scale>
          <a:sx n="78" d="100"/>
          <a:sy n="78" d="100"/>
        </p:scale>
        <p:origin x="878"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DA4BFC-2CB9-401D-B1A4-FDFD66D43B6E}" type="datetimeFigureOut">
              <a:rPr lang="en-IN" smtClean="0"/>
              <a:t>23-10-2023</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991716-CAAF-4012-98A1-CF27C5BF186C}" type="slidenum">
              <a:rPr lang="en-IN" smtClean="0"/>
              <a:t>‹#›</a:t>
            </a:fld>
            <a:endParaRPr lang="en-IN"/>
          </a:p>
        </p:txBody>
      </p:sp>
    </p:spTree>
    <p:extLst>
      <p:ext uri="{BB962C8B-B14F-4D97-AF65-F5344CB8AC3E}">
        <p14:creationId xmlns:p14="http://schemas.microsoft.com/office/powerpoint/2010/main" val="203624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E991716-CAAF-4012-98A1-CF27C5BF186C}" type="slidenum">
              <a:rPr lang="en-IN" smtClean="0"/>
              <a:t>1</a:t>
            </a:fld>
            <a:endParaRPr lang="en-IN"/>
          </a:p>
        </p:txBody>
      </p:sp>
    </p:spTree>
    <p:extLst>
      <p:ext uri="{BB962C8B-B14F-4D97-AF65-F5344CB8AC3E}">
        <p14:creationId xmlns:p14="http://schemas.microsoft.com/office/powerpoint/2010/main" val="3904827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053839-7460-4D4F-A2A8-290B588386A7}" type="slidenum">
              <a:rPr lang="en-IN" smtClean="0"/>
              <a:t>4</a:t>
            </a:fld>
            <a:endParaRPr lang="en-IN"/>
          </a:p>
        </p:txBody>
      </p:sp>
    </p:spTree>
    <p:extLst>
      <p:ext uri="{BB962C8B-B14F-4D97-AF65-F5344CB8AC3E}">
        <p14:creationId xmlns:p14="http://schemas.microsoft.com/office/powerpoint/2010/main" val="2763985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0371DB49-BB8C-4F76-807D-E566930ABC5B}" type="datetime1">
              <a:rPr lang="en-IN" smtClean="0"/>
              <a:t>23-10-2023</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13100555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B071F0-7524-47E0-ADF8-33640F46EB23}"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2078555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636B57-1EC1-4C20-862E-3BB6A74874A3}"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4220435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5C558D-C794-46FC-A5AD-4D4A5CA4C208}" type="datetime1">
              <a:rPr lang="en-IN" smtClean="0"/>
              <a:t>23-10-2023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3770988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03B209-9660-4939-AFE8-1351404F9E23}" type="datetime1">
              <a:rPr lang="en-IN" smtClean="0"/>
              <a:t>23-10-2023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3090076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C6FDEE-DDE9-4522-BA8D-F5272C588127}" type="datetime1">
              <a:rPr lang="en-IN" smtClean="0"/>
              <a:t>23-10-2023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1571580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B6DA21A-7C8F-4E21-8152-4989A6B7DFD7}" type="datetime1">
              <a:rPr lang="en-IN" smtClean="0"/>
              <a:t>23-10-2023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47696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5FF3BB-A8CA-432E-83AF-118AD2216211}" type="datetime1">
              <a:rPr lang="en-IN" smtClean="0"/>
              <a:t>23-10-2023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79548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97E5CF-61A1-45F1-B6D0-243B0865BBB6}" type="datetime1">
              <a:rPr lang="en-IN" smtClean="0"/>
              <a:t>23-10-2023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1335113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F7706-C9A3-468E-A363-5CDA5415A9DD}" type="datetime1">
              <a:rPr lang="en-IN" smtClean="0"/>
              <a:t>23-10-2023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3828181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550E16-98AB-409E-81CD-3CAB19143D1C}"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1459716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20996-0902-42FE-B814-42FBE054A9B7}"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589606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F1D42A-33BD-4E60-8498-4C0C90BD3B8E}"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18541845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81B802-0D22-4B29-9590-EFBBA21BFA78}"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2608760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D3AEC0-4103-4CCB-BA5C-CBE37E9CD9A0}"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3695909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DF3BB-BA48-4C5C-8D9E-1DED38BC9A83}"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5728931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9ABF2-E70E-42A2-8E4A-AE34168D4450}" type="datetime1">
              <a:rPr lang="en-IN" smtClean="0"/>
              <a:t>23-10-2023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6E8CA-A20A-4514-AD88-EC1BA30A10F7}" type="slidenum">
              <a:rPr lang="en-IN" smtClean="0"/>
              <a:t>‹#›</a:t>
            </a:fld>
            <a:endParaRPr lang="en-IN"/>
          </a:p>
        </p:txBody>
      </p:sp>
    </p:spTree>
    <p:extLst>
      <p:ext uri="{BB962C8B-B14F-4D97-AF65-F5344CB8AC3E}">
        <p14:creationId xmlns:p14="http://schemas.microsoft.com/office/powerpoint/2010/main" val="1748878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C409C99-8142-4A9A-B6F7-9A1C2AE86CA0}" type="datetime1">
              <a:rPr lang="en-IN" smtClean="0"/>
              <a:t>23-10-2023</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056E8CA-A20A-4514-AD88-EC1BA30A10F7}" type="slidenum">
              <a:rPr lang="en-IN" smtClean="0"/>
              <a:t>‹#›</a:t>
            </a:fld>
            <a:endParaRPr lang="en-IN"/>
          </a:p>
        </p:txBody>
      </p:sp>
    </p:spTree>
    <p:extLst>
      <p:ext uri="{BB962C8B-B14F-4D97-AF65-F5344CB8AC3E}">
        <p14:creationId xmlns:p14="http://schemas.microsoft.com/office/powerpoint/2010/main" val="3761941368"/>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2F6F0-D7E3-E135-004F-9E82AA689506}"/>
              </a:ext>
            </a:extLst>
          </p:cNvPr>
          <p:cNvSpPr>
            <a:spLocks noGrp="1"/>
          </p:cNvSpPr>
          <p:nvPr>
            <p:ph type="title"/>
          </p:nvPr>
        </p:nvSpPr>
        <p:spPr>
          <a:xfrm>
            <a:off x="489079" y="2254528"/>
            <a:ext cx="11727305" cy="1174472"/>
          </a:xfrm>
        </p:spPr>
        <p:txBody>
          <a:bodyPr>
            <a:normAutofit fontScale="90000"/>
          </a:bodyPr>
          <a:lstStyle/>
          <a:p>
            <a:pPr algn="ctr"/>
            <a:br>
              <a:rPr lang="en-US" sz="3900" b="1" dirty="0">
                <a:solidFill>
                  <a:srgbClr val="7030A0"/>
                </a:solidFill>
                <a:latin typeface="Times New Roman" pitchFamily="18" charset="0"/>
                <a:cs typeface="Times New Roman" pitchFamily="18" charset="0"/>
              </a:rPr>
            </a:br>
            <a:br>
              <a:rPr lang="en-US" sz="3900" b="1" dirty="0">
                <a:solidFill>
                  <a:srgbClr val="7030A0"/>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VLSI BASED LOSSLESS ECG COMPRESSION FOR LOW POWER DEVICES</a:t>
            </a:r>
            <a:endParaRPr lang="en-IN" sz="3600" b="1" dirty="0">
              <a:solidFill>
                <a:srgbClr val="FF0000"/>
              </a:solidFill>
              <a:latin typeface="Times New Roman" pitchFamily="18" charset="0"/>
              <a:cs typeface="Times New Roman" pitchFamily="18" charset="0"/>
            </a:endParaRPr>
          </a:p>
        </p:txBody>
      </p:sp>
      <p:sp>
        <p:nvSpPr>
          <p:cNvPr id="3" name="Text Placeholder 2"/>
          <p:cNvSpPr>
            <a:spLocks noGrp="1"/>
          </p:cNvSpPr>
          <p:nvPr>
            <p:ph type="body" idx="1"/>
          </p:nvPr>
        </p:nvSpPr>
        <p:spPr>
          <a:xfrm>
            <a:off x="602551" y="3742469"/>
            <a:ext cx="11277600" cy="1819004"/>
          </a:xfrm>
        </p:spPr>
        <p:txBody>
          <a:bodyPr>
            <a:normAutofit fontScale="85000" lnSpcReduction="10000"/>
          </a:bodyPr>
          <a:lstStyle/>
          <a:p>
            <a:r>
              <a:rPr lang="en-US" b="1" dirty="0">
                <a:solidFill>
                  <a:schemeClr val="tx1"/>
                </a:solidFill>
                <a:latin typeface="Times New Roman" pitchFamily="18" charset="0"/>
                <a:cs typeface="Times New Roman" pitchFamily="18" charset="0"/>
              </a:rPr>
              <a:t>    UNDER THE GUIDANCE OF                                                                         PRESENTED BY,</a:t>
            </a:r>
          </a:p>
          <a:p>
            <a:r>
              <a:rPr lang="en-US" b="1" dirty="0">
                <a:latin typeface="Times New Roman" pitchFamily="18" charset="0"/>
                <a:cs typeface="Times New Roman" pitchFamily="18" charset="0"/>
              </a:rPr>
              <a:t>           MR.P TAMILSELVAN                                                                                DHINESH.P(20TC0053)</a:t>
            </a:r>
          </a:p>
          <a:p>
            <a:r>
              <a:rPr lang="en-US" b="1" dirty="0">
                <a:latin typeface="Times New Roman" pitchFamily="18" charset="0"/>
                <a:cs typeface="Times New Roman" pitchFamily="18" charset="0"/>
              </a:rPr>
              <a:t>ASSISTANT PROFESSOR GRADE iii                                                              SABARINATHAN.V(20TC0064)</a:t>
            </a:r>
          </a:p>
          <a:p>
            <a:r>
              <a:rPr lang="en-US" b="1" dirty="0">
                <a:latin typeface="Times New Roman" pitchFamily="18" charset="0"/>
                <a:cs typeface="Times New Roman" pitchFamily="18" charset="0"/>
              </a:rPr>
              <a:t>                                                                                                                                  SUDHARSAN.I(20TCL005)</a:t>
            </a:r>
          </a:p>
          <a:p>
            <a:r>
              <a:rPr lang="en-US" sz="1800" b="1" dirty="0">
                <a:latin typeface="Times New Roman" pitchFamily="18" charset="0"/>
                <a:cs typeface="Times New Roman" pitchFamily="18" charset="0"/>
              </a:rPr>
              <a:t>                                                                                                                                </a:t>
            </a:r>
            <a:endParaRPr lang="en-US" sz="1800" b="1" dirty="0">
              <a:solidFill>
                <a:schemeClr val="tx1"/>
              </a:solidFill>
              <a:latin typeface="Times New Roman" pitchFamily="18" charset="0"/>
              <a:cs typeface="Times New Roman" pitchFamily="18" charset="0"/>
            </a:endParaRPr>
          </a:p>
        </p:txBody>
      </p:sp>
      <p:pic>
        <p:nvPicPr>
          <p:cNvPr id="4" name="Picture 3" descr="RGCET.png">
            <a:extLst>
              <a:ext uri="{FF2B5EF4-FFF2-40B4-BE49-F238E27FC236}">
                <a16:creationId xmlns:a16="http://schemas.microsoft.com/office/drawing/2014/main" id="{F269154E-8173-9971-3E94-F2F2A65214B9}"/>
              </a:ext>
            </a:extLst>
          </p:cNvPr>
          <p:cNvPicPr>
            <a:picLocks noChangeAspect="1"/>
          </p:cNvPicPr>
          <p:nvPr/>
        </p:nvPicPr>
        <p:blipFill>
          <a:blip r:embed="rId3" cstate="print">
            <a:alphaModFix/>
          </a:blip>
          <a:stretch>
            <a:fillRect/>
          </a:stretch>
        </p:blipFill>
        <p:spPr>
          <a:xfrm>
            <a:off x="132521" y="44670"/>
            <a:ext cx="1924902" cy="1887159"/>
          </a:xfrm>
          <a:prstGeom prst="rect">
            <a:avLst/>
          </a:prstGeom>
        </p:spPr>
      </p:pic>
      <p:sp>
        <p:nvSpPr>
          <p:cNvPr id="6" name="TextBox 5">
            <a:extLst>
              <a:ext uri="{FF2B5EF4-FFF2-40B4-BE49-F238E27FC236}">
                <a16:creationId xmlns:a16="http://schemas.microsoft.com/office/drawing/2014/main" id="{EA8F525B-BB9A-8F90-14C3-BC505762C81B}"/>
              </a:ext>
            </a:extLst>
          </p:cNvPr>
          <p:cNvSpPr txBox="1"/>
          <p:nvPr/>
        </p:nvSpPr>
        <p:spPr>
          <a:xfrm>
            <a:off x="1846736" y="-140397"/>
            <a:ext cx="10033415" cy="2462213"/>
          </a:xfrm>
          <a:prstGeom prst="rect">
            <a:avLst/>
          </a:prstGeom>
          <a:noFill/>
        </p:spPr>
        <p:txBody>
          <a:bodyPr wrap="square">
            <a:spAutoFit/>
          </a:bodyPr>
          <a:lstStyle/>
          <a:p>
            <a:pPr algn="ctr"/>
            <a:br>
              <a:rPr lang="en-US" sz="2000" b="1" dirty="0">
                <a:latin typeface="Times New Roman" pitchFamily="18" charset="0"/>
                <a:cs typeface="Times New Roman" pitchFamily="18" charset="0"/>
              </a:rPr>
            </a:br>
            <a:r>
              <a:rPr lang="en-US" sz="3400" b="1" dirty="0">
                <a:latin typeface="Times New Roman" pitchFamily="18" charset="0"/>
                <a:cs typeface="Times New Roman" pitchFamily="18" charset="0"/>
              </a:rPr>
              <a:t>RAJIVGANDHI COLLEGE OF ENGINEERING AND TECHNOLOGY</a:t>
            </a:r>
          </a:p>
          <a:p>
            <a:pPr algn="ctr"/>
            <a:endParaRPr lang="en-US" sz="2800" b="1" dirty="0">
              <a:solidFill>
                <a:srgbClr val="FFFF00"/>
              </a:solidFill>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DEPARTMENT OF ELECTRONICS AND COMMUNICATION ENGINEERING</a:t>
            </a:r>
          </a:p>
          <a:p>
            <a:endParaRPr lang="en-US" dirty="0"/>
          </a:p>
        </p:txBody>
      </p:sp>
      <p:sp>
        <p:nvSpPr>
          <p:cNvPr id="8" name="TextBox 7">
            <a:extLst>
              <a:ext uri="{FF2B5EF4-FFF2-40B4-BE49-F238E27FC236}">
                <a16:creationId xmlns:a16="http://schemas.microsoft.com/office/drawing/2014/main" id="{B225952F-656A-FE2F-009D-A674286F502F}"/>
              </a:ext>
            </a:extLst>
          </p:cNvPr>
          <p:cNvSpPr txBox="1"/>
          <p:nvPr/>
        </p:nvSpPr>
        <p:spPr>
          <a:xfrm>
            <a:off x="7679634" y="5532807"/>
            <a:ext cx="2474976" cy="461665"/>
          </a:xfrm>
          <a:prstGeom prst="rect">
            <a:avLst/>
          </a:prstGeom>
          <a:noFill/>
        </p:spPr>
        <p:txBody>
          <a:bodyPr wrap="square">
            <a:spAutoFit/>
          </a:bodyPr>
          <a:lstStyle/>
          <a:p>
            <a:r>
              <a:rPr lang="en-US" sz="2400" dirty="0">
                <a:solidFill>
                  <a:srgbClr val="92D050"/>
                </a:solidFill>
                <a:latin typeface="Times New Roman" panose="02020603050405020304" pitchFamily="18" charset="0"/>
                <a:cs typeface="Times New Roman" panose="02020603050405020304" pitchFamily="18" charset="0"/>
              </a:rPr>
              <a:t>DATE:23/10/2023</a:t>
            </a:r>
          </a:p>
        </p:txBody>
      </p:sp>
      <p:sp>
        <p:nvSpPr>
          <p:cNvPr id="5" name="Slide Number Placeholder 4">
            <a:extLst>
              <a:ext uri="{FF2B5EF4-FFF2-40B4-BE49-F238E27FC236}">
                <a16:creationId xmlns:a16="http://schemas.microsoft.com/office/drawing/2014/main" id="{780B525C-0BD0-A129-D2C1-0A4AA8E21CD3}"/>
              </a:ext>
            </a:extLst>
          </p:cNvPr>
          <p:cNvSpPr>
            <a:spLocks noGrp="1"/>
          </p:cNvSpPr>
          <p:nvPr>
            <p:ph type="sldNum" sz="quarter" idx="12"/>
          </p:nvPr>
        </p:nvSpPr>
        <p:spPr/>
        <p:txBody>
          <a:bodyPr/>
          <a:lstStyle/>
          <a:p>
            <a:fld id="{6056E8CA-A20A-4514-AD88-EC1BA30A10F7}" type="slidenum">
              <a:rPr lang="en-IN" smtClean="0"/>
              <a:t>1</a:t>
            </a:fld>
            <a:endParaRPr lang="en-IN"/>
          </a:p>
        </p:txBody>
      </p:sp>
    </p:spTree>
    <p:extLst>
      <p:ext uri="{BB962C8B-B14F-4D97-AF65-F5344CB8AC3E}">
        <p14:creationId xmlns:p14="http://schemas.microsoft.com/office/powerpoint/2010/main" val="2834073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D316D-3672-4D47-9489-4CAE8AE8D42E}"/>
              </a:ext>
            </a:extLst>
          </p:cNvPr>
          <p:cNvSpPr>
            <a:spLocks noGrp="1"/>
          </p:cNvSpPr>
          <p:nvPr>
            <p:ph type="title"/>
          </p:nvPr>
        </p:nvSpPr>
        <p:spPr>
          <a:xfrm>
            <a:off x="838200" y="-140043"/>
            <a:ext cx="10131425" cy="1456267"/>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ABSTRACT</a:t>
            </a:r>
            <a:endParaRPr lang="en-IN" sz="4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08F3FA-BDDD-7D65-7BDE-E7A54718D775}"/>
              </a:ext>
            </a:extLst>
          </p:cNvPr>
          <p:cNvSpPr>
            <a:spLocks noGrp="1"/>
          </p:cNvSpPr>
          <p:nvPr>
            <p:ph idx="1"/>
          </p:nvPr>
        </p:nvSpPr>
        <p:spPr>
          <a:xfrm>
            <a:off x="838200" y="780471"/>
            <a:ext cx="10515600" cy="4351338"/>
          </a:xfrm>
        </p:spPr>
        <p:txBody>
          <a:bodyPr>
            <a:normAutofit/>
          </a:bodyPr>
          <a:lstStyle/>
          <a:p>
            <a:pPr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As the data compression can save disc space, reduce transfer time, and seized this ability by introducing a memory-less architecture when operating in VLSI at a high data rate. </a:t>
            </a:r>
          </a:p>
          <a:p>
            <a:pPr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This project based  on an effective electrocardiogram data encoding lossless data compression scheme to conserve disk system to minimize channel capacity. </a:t>
            </a:r>
          </a:p>
          <a:p>
            <a:pPr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An accurate and reduced compressed algorithm design has been proposed which is very easy to diagnose the disease. </a:t>
            </a:r>
          </a:p>
          <a:p>
            <a:pPr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MIT-BIH database is used in the design for validation</a:t>
            </a:r>
            <a:r>
              <a:rPr lang="en-US" sz="2000" b="1"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CDF9C00-1108-7A20-22DD-7C1C57BB9CC2}"/>
              </a:ext>
            </a:extLst>
          </p:cNvPr>
          <p:cNvSpPr>
            <a:spLocks noGrp="1"/>
          </p:cNvSpPr>
          <p:nvPr>
            <p:ph type="sldNum" sz="quarter" idx="12"/>
          </p:nvPr>
        </p:nvSpPr>
        <p:spPr/>
        <p:txBody>
          <a:bodyPr/>
          <a:lstStyle/>
          <a:p>
            <a:fld id="{6056E8CA-A20A-4514-AD88-EC1BA30A10F7}" type="slidenum">
              <a:rPr lang="en-IN" smtClean="0"/>
              <a:t>2</a:t>
            </a:fld>
            <a:endParaRPr lang="en-IN"/>
          </a:p>
        </p:txBody>
      </p:sp>
    </p:spTree>
    <p:extLst>
      <p:ext uri="{BB962C8B-B14F-4D97-AF65-F5344CB8AC3E}">
        <p14:creationId xmlns:p14="http://schemas.microsoft.com/office/powerpoint/2010/main" val="3667909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7C8B1F-BCF7-A701-A0E4-06B6F49D2844}"/>
              </a:ext>
            </a:extLst>
          </p:cNvPr>
          <p:cNvSpPr txBox="1">
            <a:spLocks/>
          </p:cNvSpPr>
          <p:nvPr/>
        </p:nvSpPr>
        <p:spPr>
          <a:xfrm>
            <a:off x="312683" y="122319"/>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kern="1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Literature Review</a:t>
            </a:r>
            <a:br>
              <a:rPr lang="en-IN" kern="1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br>
            <a:endParaRPr lang="en-IN"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84359BC-1EB2-DEA8-61A9-F62A3975613C}"/>
              </a:ext>
            </a:extLst>
          </p:cNvPr>
          <p:cNvGraphicFramePr>
            <a:graphicFrameLocks noGrp="1"/>
          </p:cNvGraphicFramePr>
          <p:nvPr>
            <p:extLst>
              <p:ext uri="{D42A27DB-BD31-4B8C-83A1-F6EECF244321}">
                <p14:modId xmlns:p14="http://schemas.microsoft.com/office/powerpoint/2010/main" val="545548929"/>
              </p:ext>
            </p:extLst>
          </p:nvPr>
        </p:nvGraphicFramePr>
        <p:xfrm>
          <a:off x="576852" y="875071"/>
          <a:ext cx="11218382" cy="5722373"/>
        </p:xfrm>
        <a:graphic>
          <a:graphicData uri="http://schemas.openxmlformats.org/drawingml/2006/table">
            <a:tbl>
              <a:tblPr firstRow="1" firstCol="1" bandCol="1">
                <a:tableStyleId>{F5AB1C69-6EDB-4FF4-983F-18BD219EF322}</a:tableStyleId>
              </a:tblPr>
              <a:tblGrid>
                <a:gridCol w="534976">
                  <a:extLst>
                    <a:ext uri="{9D8B030D-6E8A-4147-A177-3AD203B41FA5}">
                      <a16:colId xmlns:a16="http://schemas.microsoft.com/office/drawing/2014/main" val="3355379674"/>
                    </a:ext>
                  </a:extLst>
                </a:gridCol>
                <a:gridCol w="3241964">
                  <a:extLst>
                    <a:ext uri="{9D8B030D-6E8A-4147-A177-3AD203B41FA5}">
                      <a16:colId xmlns:a16="http://schemas.microsoft.com/office/drawing/2014/main" val="1609607737"/>
                    </a:ext>
                  </a:extLst>
                </a:gridCol>
                <a:gridCol w="2040571">
                  <a:extLst>
                    <a:ext uri="{9D8B030D-6E8A-4147-A177-3AD203B41FA5}">
                      <a16:colId xmlns:a16="http://schemas.microsoft.com/office/drawing/2014/main" val="3267392234"/>
                    </a:ext>
                  </a:extLst>
                </a:gridCol>
                <a:gridCol w="1293327">
                  <a:extLst>
                    <a:ext uri="{9D8B030D-6E8A-4147-A177-3AD203B41FA5}">
                      <a16:colId xmlns:a16="http://schemas.microsoft.com/office/drawing/2014/main" val="2189975949"/>
                    </a:ext>
                  </a:extLst>
                </a:gridCol>
                <a:gridCol w="1724036">
                  <a:extLst>
                    <a:ext uri="{9D8B030D-6E8A-4147-A177-3AD203B41FA5}">
                      <a16:colId xmlns:a16="http://schemas.microsoft.com/office/drawing/2014/main" val="3757568203"/>
                    </a:ext>
                  </a:extLst>
                </a:gridCol>
                <a:gridCol w="2383508">
                  <a:extLst>
                    <a:ext uri="{9D8B030D-6E8A-4147-A177-3AD203B41FA5}">
                      <a16:colId xmlns:a16="http://schemas.microsoft.com/office/drawing/2014/main" val="3342499648"/>
                    </a:ext>
                  </a:extLst>
                </a:gridCol>
              </a:tblGrid>
              <a:tr h="313314">
                <a:tc>
                  <a:txBody>
                    <a:bodyPr/>
                    <a:lstStyle/>
                    <a:p>
                      <a:pPr algn="ctr">
                        <a:lnSpc>
                          <a:spcPct val="107000"/>
                        </a:lnSpc>
                        <a:spcAft>
                          <a:spcPts val="800"/>
                        </a:spcAft>
                      </a:pPr>
                      <a:r>
                        <a:rPr lang="en-IN" sz="1600" kern="100" dirty="0" err="1">
                          <a:effectLst/>
                        </a:rPr>
                        <a:t>S.No</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ctr">
                        <a:lnSpc>
                          <a:spcPct val="107000"/>
                        </a:lnSpc>
                        <a:spcAft>
                          <a:spcPts val="800"/>
                        </a:spcAft>
                      </a:pPr>
                      <a:r>
                        <a:rPr lang="en-IN" sz="1600" kern="100" dirty="0">
                          <a:effectLst/>
                        </a:rPr>
                        <a:t>Paper</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ctr">
                        <a:lnSpc>
                          <a:spcPct val="107000"/>
                        </a:lnSpc>
                        <a:spcAft>
                          <a:spcPts val="800"/>
                        </a:spcAft>
                      </a:pPr>
                      <a:r>
                        <a:rPr lang="en-IN" sz="1600" kern="100" dirty="0">
                          <a:effectLst/>
                        </a:rPr>
                        <a:t>Author</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ctr">
                        <a:lnSpc>
                          <a:spcPct val="107000"/>
                        </a:lnSpc>
                        <a:spcAft>
                          <a:spcPts val="800"/>
                        </a:spcAft>
                      </a:pPr>
                      <a:r>
                        <a:rPr lang="en-IN" sz="1600" kern="100" dirty="0">
                          <a:effectLst/>
                        </a:rPr>
                        <a:t>Year</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ctr">
                        <a:lnSpc>
                          <a:spcPct val="107000"/>
                        </a:lnSpc>
                        <a:spcAft>
                          <a:spcPts val="800"/>
                        </a:spcAft>
                      </a:pPr>
                      <a:r>
                        <a:rPr lang="en-IN" sz="1600" kern="100">
                          <a:effectLst/>
                        </a:rPr>
                        <a:t>Methodology</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ctr">
                        <a:lnSpc>
                          <a:spcPct val="107000"/>
                        </a:lnSpc>
                        <a:spcAft>
                          <a:spcPts val="800"/>
                        </a:spcAft>
                      </a:pPr>
                      <a:r>
                        <a:rPr lang="en-IN" sz="1600" kern="100" dirty="0">
                          <a:effectLst/>
                        </a:rPr>
                        <a:t>Issue</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extLst>
                  <a:ext uri="{0D108BD9-81ED-4DB2-BD59-A6C34878D82A}">
                    <a16:rowId xmlns:a16="http://schemas.microsoft.com/office/drawing/2014/main" val="2056500724"/>
                  </a:ext>
                </a:extLst>
              </a:tr>
              <a:tr h="1274313">
                <a:tc>
                  <a:txBody>
                    <a:bodyPr/>
                    <a:lstStyle/>
                    <a:p>
                      <a:pPr algn="just">
                        <a:lnSpc>
                          <a:spcPct val="107000"/>
                        </a:lnSpc>
                        <a:spcAft>
                          <a:spcPts val="800"/>
                        </a:spcAft>
                      </a:pPr>
                      <a:r>
                        <a:rPr lang="en-IN" sz="1600" kern="100">
                          <a:effectLst/>
                        </a:rPr>
                        <a:t>1</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Secure and energy-efficient data transmission system based on chaotic compressive sensing in body-to-body networks</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800" kern="100" dirty="0">
                          <a:effectLst/>
                        </a:rPr>
                        <a:t>Peng, H.; Tian, Y.; </a:t>
                      </a:r>
                      <a:r>
                        <a:rPr lang="en-IN" sz="1800" kern="100" dirty="0" err="1">
                          <a:effectLst/>
                        </a:rPr>
                        <a:t>Kurths</a:t>
                      </a:r>
                      <a:r>
                        <a:rPr lang="en-IN" sz="1800" kern="100" dirty="0">
                          <a:effectLst/>
                        </a:rPr>
                        <a:t>, J.; Li, L.; Yang, Y.; Wang</a:t>
                      </a:r>
                      <a:endParaRPr lang="en-IN" sz="18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just">
                        <a:lnSpc>
                          <a:spcPct val="107000"/>
                        </a:lnSpc>
                        <a:spcAft>
                          <a:spcPts val="800"/>
                        </a:spcAft>
                      </a:pPr>
                      <a:r>
                        <a:rPr lang="en-IN" sz="1600" kern="100" dirty="0">
                          <a:effectLst/>
                        </a:rPr>
                        <a:t>IEEE-2017</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Chaotic compressive sensing method</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High energy and data security is less.</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extLst>
                  <a:ext uri="{0D108BD9-81ED-4DB2-BD59-A6C34878D82A}">
                    <a16:rowId xmlns:a16="http://schemas.microsoft.com/office/drawing/2014/main" val="1387208524"/>
                  </a:ext>
                </a:extLst>
              </a:tr>
              <a:tr h="953980">
                <a:tc>
                  <a:txBody>
                    <a:bodyPr/>
                    <a:lstStyle/>
                    <a:p>
                      <a:pPr algn="just">
                        <a:lnSpc>
                          <a:spcPct val="107000"/>
                        </a:lnSpc>
                        <a:spcAft>
                          <a:spcPts val="800"/>
                        </a:spcAft>
                      </a:pPr>
                      <a:r>
                        <a:rPr lang="en-IN" sz="1600" kern="100">
                          <a:effectLst/>
                        </a:rPr>
                        <a:t>2</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A combined approach for real-time data compression in wireless body sensor networks</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Giorgi, G</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just">
                        <a:lnSpc>
                          <a:spcPct val="107000"/>
                        </a:lnSpc>
                        <a:spcAft>
                          <a:spcPts val="800"/>
                        </a:spcAft>
                      </a:pPr>
                      <a:r>
                        <a:rPr lang="en-IN" sz="1600" kern="100">
                          <a:effectLst/>
                        </a:rPr>
                        <a:t>IEEE-2017</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Combined compression algorithm</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Compression ratio is very small.</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extLst>
                  <a:ext uri="{0D108BD9-81ED-4DB2-BD59-A6C34878D82A}">
                    <a16:rowId xmlns:a16="http://schemas.microsoft.com/office/drawing/2014/main" val="2522089463"/>
                  </a:ext>
                </a:extLst>
              </a:tr>
              <a:tr h="953980">
                <a:tc>
                  <a:txBody>
                    <a:bodyPr/>
                    <a:lstStyle/>
                    <a:p>
                      <a:pPr algn="just">
                        <a:lnSpc>
                          <a:spcPct val="107000"/>
                        </a:lnSpc>
                        <a:spcAft>
                          <a:spcPts val="800"/>
                        </a:spcAft>
                      </a:pPr>
                      <a:r>
                        <a:rPr lang="en-IN" sz="1600" kern="100">
                          <a:effectLst/>
                        </a:rPr>
                        <a:t>3</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Multichannel EEG compression: Wavelet-based image and volumetric coding approach</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Srinivasan, K.; </a:t>
                      </a:r>
                      <a:r>
                        <a:rPr lang="en-IN" sz="1600" kern="100" dirty="0" err="1">
                          <a:effectLst/>
                        </a:rPr>
                        <a:t>Dauwels</a:t>
                      </a:r>
                      <a:r>
                        <a:rPr lang="en-IN" sz="1600" kern="100" dirty="0">
                          <a:effectLst/>
                        </a:rPr>
                        <a:t>, J.; Reddy, M.R</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just">
                        <a:lnSpc>
                          <a:spcPct val="107000"/>
                        </a:lnSpc>
                        <a:spcAft>
                          <a:spcPts val="800"/>
                        </a:spcAft>
                      </a:pPr>
                      <a:r>
                        <a:rPr lang="en-IN" sz="1600" kern="100">
                          <a:effectLst/>
                        </a:rPr>
                        <a:t>IEEE-2017</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Wavelet-based compression</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Lossy compression algorithm.</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extLst>
                  <a:ext uri="{0D108BD9-81ED-4DB2-BD59-A6C34878D82A}">
                    <a16:rowId xmlns:a16="http://schemas.microsoft.com/office/drawing/2014/main" val="1349041766"/>
                  </a:ext>
                </a:extLst>
              </a:tr>
              <a:tr h="1114147">
                <a:tc>
                  <a:txBody>
                    <a:bodyPr/>
                    <a:lstStyle/>
                    <a:p>
                      <a:pPr algn="just">
                        <a:lnSpc>
                          <a:spcPct val="107000"/>
                        </a:lnSpc>
                        <a:spcAft>
                          <a:spcPts val="800"/>
                        </a:spcAft>
                      </a:pPr>
                      <a:r>
                        <a:rPr lang="en-IN" sz="1600" kern="100">
                          <a:effectLst/>
                        </a:rPr>
                        <a:t>4</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An adaptive error modelling scheme for the lossless compression of EEG signals</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err="1">
                          <a:effectLst/>
                        </a:rPr>
                        <a:t>Sriraam</a:t>
                      </a:r>
                      <a:r>
                        <a:rPr lang="en-IN" sz="1600" kern="100" dirty="0">
                          <a:effectLst/>
                        </a:rPr>
                        <a:t>, N.; Eswaran, C.</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just">
                        <a:lnSpc>
                          <a:spcPct val="107000"/>
                        </a:lnSpc>
                        <a:spcAft>
                          <a:spcPts val="800"/>
                        </a:spcAft>
                      </a:pPr>
                      <a:r>
                        <a:rPr lang="en-IN" sz="1600" kern="100">
                          <a:effectLst/>
                        </a:rPr>
                        <a:t>IEEE-2008</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Lossless compression using adaptive error modelling scheme</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Wavelet-based EEG compression which is not efficient.</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extLst>
                  <a:ext uri="{0D108BD9-81ED-4DB2-BD59-A6C34878D82A}">
                    <a16:rowId xmlns:a16="http://schemas.microsoft.com/office/drawing/2014/main" val="142644059"/>
                  </a:ext>
                </a:extLst>
              </a:tr>
              <a:tr h="1112639">
                <a:tc>
                  <a:txBody>
                    <a:bodyPr/>
                    <a:lstStyle/>
                    <a:p>
                      <a:pPr algn="just">
                        <a:lnSpc>
                          <a:spcPct val="107000"/>
                        </a:lnSpc>
                        <a:spcAft>
                          <a:spcPts val="800"/>
                        </a:spcAft>
                      </a:pPr>
                      <a:r>
                        <a:rPr lang="en-IN" sz="1600" kern="100">
                          <a:effectLst/>
                        </a:rPr>
                        <a:t>5</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Highly efficient compression algorithms for multichannel EEG</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Shaw, L.; Rahman, D.; </a:t>
                      </a:r>
                      <a:r>
                        <a:rPr lang="en-IN" sz="1600" kern="100" dirty="0" err="1">
                          <a:effectLst/>
                        </a:rPr>
                        <a:t>Routray</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just">
                        <a:lnSpc>
                          <a:spcPct val="107000"/>
                        </a:lnSpc>
                        <a:spcAft>
                          <a:spcPts val="800"/>
                        </a:spcAft>
                      </a:pPr>
                      <a:r>
                        <a:rPr lang="en-IN" sz="1600" kern="100">
                          <a:effectLst/>
                        </a:rPr>
                        <a:t>IEEE-2018</a:t>
                      </a:r>
                      <a:endParaRPr lang="en-IN" sz="1600" kern="10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Lossless and efficient compression algorithms</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tc>
                  <a:txBody>
                    <a:bodyPr/>
                    <a:lstStyle/>
                    <a:p>
                      <a:pPr algn="l">
                        <a:lnSpc>
                          <a:spcPct val="107000"/>
                        </a:lnSpc>
                        <a:spcAft>
                          <a:spcPts val="800"/>
                        </a:spcAft>
                      </a:pPr>
                      <a:r>
                        <a:rPr lang="en-IN" sz="1600" kern="100" dirty="0">
                          <a:effectLst/>
                        </a:rPr>
                        <a:t>Multichannel EEG data consume high storage capacity in transmission</a:t>
                      </a:r>
                      <a:endParaRPr lang="en-IN" sz="1600" kern="100" dirty="0">
                        <a:effectLst/>
                        <a:latin typeface="Times New Roman" panose="02020603050405020304" pitchFamily="18" charset="0"/>
                        <a:ea typeface="Tahoma" panose="020B0604030504040204" pitchFamily="34" charset="0"/>
                        <a:cs typeface="Times New Roman" panose="02020603050405020304" pitchFamily="18" charset="0"/>
                      </a:endParaRPr>
                    </a:p>
                  </a:txBody>
                  <a:tcPr marL="45238" marR="45238" marT="0" marB="0"/>
                </a:tc>
                <a:extLst>
                  <a:ext uri="{0D108BD9-81ED-4DB2-BD59-A6C34878D82A}">
                    <a16:rowId xmlns:a16="http://schemas.microsoft.com/office/drawing/2014/main" val="2163562666"/>
                  </a:ext>
                </a:extLst>
              </a:tr>
            </a:tbl>
          </a:graphicData>
        </a:graphic>
      </p:graphicFrame>
      <p:sp>
        <p:nvSpPr>
          <p:cNvPr id="2" name="Slide Number Placeholder 1">
            <a:extLst>
              <a:ext uri="{FF2B5EF4-FFF2-40B4-BE49-F238E27FC236}">
                <a16:creationId xmlns:a16="http://schemas.microsoft.com/office/drawing/2014/main" id="{45A9E366-C0B7-AE92-E698-F70D81E284B9}"/>
              </a:ext>
            </a:extLst>
          </p:cNvPr>
          <p:cNvSpPr>
            <a:spLocks noGrp="1"/>
          </p:cNvSpPr>
          <p:nvPr>
            <p:ph type="sldNum" sz="quarter" idx="12"/>
          </p:nvPr>
        </p:nvSpPr>
        <p:spPr/>
        <p:txBody>
          <a:bodyPr/>
          <a:lstStyle/>
          <a:p>
            <a:fld id="{6056E8CA-A20A-4514-AD88-EC1BA30A10F7}" type="slidenum">
              <a:rPr lang="en-IN" smtClean="0"/>
              <a:t>3</a:t>
            </a:fld>
            <a:endParaRPr lang="en-IN"/>
          </a:p>
        </p:txBody>
      </p:sp>
    </p:spTree>
    <p:extLst>
      <p:ext uri="{BB962C8B-B14F-4D97-AF65-F5344CB8AC3E}">
        <p14:creationId xmlns:p14="http://schemas.microsoft.com/office/powerpoint/2010/main" val="3171152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EA800B4-B706-FF81-FED0-B329164287CA}"/>
              </a:ext>
            </a:extLst>
          </p:cNvPr>
          <p:cNvGraphicFramePr>
            <a:graphicFrameLocks noGrp="1"/>
          </p:cNvGraphicFramePr>
          <p:nvPr>
            <p:extLst>
              <p:ext uri="{D42A27DB-BD31-4B8C-83A1-F6EECF244321}">
                <p14:modId xmlns:p14="http://schemas.microsoft.com/office/powerpoint/2010/main" val="2832208942"/>
              </p:ext>
            </p:extLst>
          </p:nvPr>
        </p:nvGraphicFramePr>
        <p:xfrm>
          <a:off x="619433" y="195612"/>
          <a:ext cx="10783613" cy="6466776"/>
        </p:xfrm>
        <a:graphic>
          <a:graphicData uri="http://schemas.openxmlformats.org/drawingml/2006/table">
            <a:tbl>
              <a:tblPr firstCol="1" bandRow="1">
                <a:tableStyleId>{F5AB1C69-6EDB-4FF4-983F-18BD219EF322}</a:tableStyleId>
              </a:tblPr>
              <a:tblGrid>
                <a:gridCol w="383457">
                  <a:extLst>
                    <a:ext uri="{9D8B030D-6E8A-4147-A177-3AD203B41FA5}">
                      <a16:colId xmlns:a16="http://schemas.microsoft.com/office/drawing/2014/main" val="3288315746"/>
                    </a:ext>
                  </a:extLst>
                </a:gridCol>
                <a:gridCol w="3209487">
                  <a:extLst>
                    <a:ext uri="{9D8B030D-6E8A-4147-A177-3AD203B41FA5}">
                      <a16:colId xmlns:a16="http://schemas.microsoft.com/office/drawing/2014/main" val="937245621"/>
                    </a:ext>
                  </a:extLst>
                </a:gridCol>
                <a:gridCol w="2081132">
                  <a:extLst>
                    <a:ext uri="{9D8B030D-6E8A-4147-A177-3AD203B41FA5}">
                      <a16:colId xmlns:a16="http://schemas.microsoft.com/office/drawing/2014/main" val="356303875"/>
                    </a:ext>
                  </a:extLst>
                </a:gridCol>
                <a:gridCol w="1223562">
                  <a:extLst>
                    <a:ext uri="{9D8B030D-6E8A-4147-A177-3AD203B41FA5}">
                      <a16:colId xmlns:a16="http://schemas.microsoft.com/office/drawing/2014/main" val="3348280420"/>
                    </a:ext>
                  </a:extLst>
                </a:gridCol>
                <a:gridCol w="1558457">
                  <a:extLst>
                    <a:ext uri="{9D8B030D-6E8A-4147-A177-3AD203B41FA5}">
                      <a16:colId xmlns:a16="http://schemas.microsoft.com/office/drawing/2014/main" val="1231634191"/>
                    </a:ext>
                  </a:extLst>
                </a:gridCol>
                <a:gridCol w="2327518">
                  <a:extLst>
                    <a:ext uri="{9D8B030D-6E8A-4147-A177-3AD203B41FA5}">
                      <a16:colId xmlns:a16="http://schemas.microsoft.com/office/drawing/2014/main" val="3280277900"/>
                    </a:ext>
                  </a:extLst>
                </a:gridCol>
              </a:tblGrid>
              <a:tr h="1465540">
                <a:tc>
                  <a:txBody>
                    <a:bodyPr/>
                    <a:lstStyle/>
                    <a:p>
                      <a:pPr algn="just">
                        <a:lnSpc>
                          <a:spcPct val="107000"/>
                        </a:lnSpc>
                        <a:spcAft>
                          <a:spcPts val="800"/>
                        </a:spcAft>
                      </a:pPr>
                      <a:r>
                        <a:rPr lang="en-IN" sz="1600" kern="100" dirty="0">
                          <a:effectLst/>
                        </a:rPr>
                        <a:t>6</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Wireless EEG system achieving high throughput and reduced energy consumption through lossless and near-lossless compression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Alvarez, G.D.; Favaro, F.; Lecumberry, F.; Martin, A.; Oliver, J.P.; Oreggioni, J.; Ramirez, I.; Seroussi, G.; Steinfeld, L</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IEEE-2018</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High throughput and reduced energy consumption by lossless compression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Lossless algorithm of EEG compression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extLst>
                  <a:ext uri="{0D108BD9-81ED-4DB2-BD59-A6C34878D82A}">
                    <a16:rowId xmlns:a16="http://schemas.microsoft.com/office/drawing/2014/main" val="3300643201"/>
                  </a:ext>
                </a:extLst>
              </a:tr>
              <a:tr h="674446">
                <a:tc>
                  <a:txBody>
                    <a:bodyPr/>
                    <a:lstStyle/>
                    <a:p>
                      <a:pPr algn="just">
                        <a:lnSpc>
                          <a:spcPct val="107000"/>
                        </a:lnSpc>
                        <a:spcAft>
                          <a:spcPts val="800"/>
                        </a:spcAft>
                      </a:pPr>
                      <a:r>
                        <a:rPr lang="en-IN" sz="1600" kern="100">
                          <a:effectLst/>
                        </a:rPr>
                        <a:t>7</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Fuzzy feature extraction for multichannel EEG classification.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Zhou, P.Y.; Chan, K.C.C</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IEEE-2016</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Fizzy feature extraction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Fuzzy based EEG classifier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extLst>
                  <a:ext uri="{0D108BD9-81ED-4DB2-BD59-A6C34878D82A}">
                    <a16:rowId xmlns:a16="http://schemas.microsoft.com/office/drawing/2014/main" val="2348239836"/>
                  </a:ext>
                </a:extLst>
              </a:tr>
              <a:tr h="1218508">
                <a:tc>
                  <a:txBody>
                    <a:bodyPr/>
                    <a:lstStyle/>
                    <a:p>
                      <a:pPr algn="just">
                        <a:lnSpc>
                          <a:spcPct val="107000"/>
                        </a:lnSpc>
                        <a:spcAft>
                          <a:spcPts val="800"/>
                        </a:spcAft>
                      </a:pPr>
                      <a:r>
                        <a:rPr lang="en-IN" sz="1600" kern="100" dirty="0">
                          <a:effectLst/>
                        </a:rPr>
                        <a:t>8</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Mixed bio-signal lossless data compressor for portable brain-heart monitoring systems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Chua, E.; Fang, W</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IEEE-2011</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Brain heart monitoring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Mixed bio-signal lossless data compression together with its EEG signal compression which is less accurate.</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extLst>
                  <a:ext uri="{0D108BD9-81ED-4DB2-BD59-A6C34878D82A}">
                    <a16:rowId xmlns:a16="http://schemas.microsoft.com/office/drawing/2014/main" val="719187232"/>
                  </a:ext>
                </a:extLst>
              </a:tr>
              <a:tr h="1134414">
                <a:tc>
                  <a:txBody>
                    <a:bodyPr/>
                    <a:lstStyle/>
                    <a:p>
                      <a:pPr algn="just">
                        <a:lnSpc>
                          <a:spcPct val="107000"/>
                        </a:lnSpc>
                        <a:spcAft>
                          <a:spcPts val="800"/>
                        </a:spcAft>
                      </a:pPr>
                      <a:r>
                        <a:rPr lang="en-IN" sz="1600" kern="100">
                          <a:effectLst/>
                        </a:rPr>
                        <a:t>9</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VLSI implementation of a low-power cost-efficient lossless ECG encoder design for wireless healthcare monitoring application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Chen, S.L.; Wang, J.G.</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Elecron. Lett-2013</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ECG encoder design</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a:effectLst/>
                        </a:rPr>
                        <a:t>High performance in compression rate but consume higher power.</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extLst>
                  <a:ext uri="{0D108BD9-81ED-4DB2-BD59-A6C34878D82A}">
                    <a16:rowId xmlns:a16="http://schemas.microsoft.com/office/drawing/2014/main" val="1700325337"/>
                  </a:ext>
                </a:extLst>
              </a:tr>
              <a:tr h="1712572">
                <a:tc>
                  <a:txBody>
                    <a:bodyPr/>
                    <a:lstStyle/>
                    <a:p>
                      <a:pPr algn="just">
                        <a:lnSpc>
                          <a:spcPct val="107000"/>
                        </a:lnSpc>
                        <a:spcAft>
                          <a:spcPts val="800"/>
                        </a:spcAft>
                      </a:pPr>
                      <a:r>
                        <a:rPr lang="en-IN" sz="1600" kern="100" dirty="0">
                          <a:effectLst/>
                        </a:rPr>
                        <a:t>10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Efficient fuzzy-controlled and hybrid entropy coding strategy lossless ECG encoder VLSI design for wireless body sensor networks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Chen, S.L.; Luo, G.A.; Lin, T.L.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err="1">
                          <a:effectLst/>
                        </a:rPr>
                        <a:t>Elecron</a:t>
                      </a:r>
                      <a:r>
                        <a:rPr lang="en-IN" sz="1600" kern="100" dirty="0">
                          <a:effectLst/>
                        </a:rPr>
                        <a:t>. Lett-2013</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ECG encoder using hybrid entropy coding strategy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tc>
                  <a:txBody>
                    <a:bodyPr/>
                    <a:lstStyle/>
                    <a:p>
                      <a:pPr algn="l">
                        <a:lnSpc>
                          <a:spcPct val="107000"/>
                        </a:lnSpc>
                        <a:spcAft>
                          <a:spcPts val="800"/>
                        </a:spcAft>
                      </a:pPr>
                      <a:r>
                        <a:rPr lang="en-IN" sz="1600" kern="100" dirty="0">
                          <a:effectLst/>
                        </a:rPr>
                        <a:t>Adaptive trending prediction with Huffman coding architecture by implementing fuzzy decision technique for a more efficient and precise signal prediction</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518" marR="36518" marT="0" marB="0"/>
                </a:tc>
                <a:extLst>
                  <a:ext uri="{0D108BD9-81ED-4DB2-BD59-A6C34878D82A}">
                    <a16:rowId xmlns:a16="http://schemas.microsoft.com/office/drawing/2014/main" val="334768622"/>
                  </a:ext>
                </a:extLst>
              </a:tr>
            </a:tbl>
          </a:graphicData>
        </a:graphic>
      </p:graphicFrame>
      <p:sp>
        <p:nvSpPr>
          <p:cNvPr id="2" name="Slide Number Placeholder 1">
            <a:extLst>
              <a:ext uri="{FF2B5EF4-FFF2-40B4-BE49-F238E27FC236}">
                <a16:creationId xmlns:a16="http://schemas.microsoft.com/office/drawing/2014/main" id="{4B37EF9F-D495-76C7-F532-116A0E2A6477}"/>
              </a:ext>
            </a:extLst>
          </p:cNvPr>
          <p:cNvSpPr>
            <a:spLocks noGrp="1"/>
          </p:cNvSpPr>
          <p:nvPr>
            <p:ph type="sldNum" sz="quarter" idx="12"/>
          </p:nvPr>
        </p:nvSpPr>
        <p:spPr/>
        <p:txBody>
          <a:bodyPr/>
          <a:lstStyle/>
          <a:p>
            <a:fld id="{6056E8CA-A20A-4514-AD88-EC1BA30A10F7}" type="slidenum">
              <a:rPr lang="en-IN" smtClean="0"/>
              <a:t>4</a:t>
            </a:fld>
            <a:endParaRPr lang="en-IN"/>
          </a:p>
        </p:txBody>
      </p:sp>
    </p:spTree>
    <p:extLst>
      <p:ext uri="{BB962C8B-B14F-4D97-AF65-F5344CB8AC3E}">
        <p14:creationId xmlns:p14="http://schemas.microsoft.com/office/powerpoint/2010/main" val="3835024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0878D-89C8-69F5-D335-DBFEAC432706}"/>
              </a:ext>
            </a:extLst>
          </p:cNvPr>
          <p:cNvSpPr>
            <a:spLocks noGrp="1"/>
          </p:cNvSpPr>
          <p:nvPr>
            <p:ph type="title"/>
          </p:nvPr>
        </p:nvSpPr>
        <p:spPr>
          <a:xfrm>
            <a:off x="263014" y="314633"/>
            <a:ext cx="10131425" cy="825909"/>
          </a:xfrm>
        </p:spPr>
        <p:txBody>
          <a:bodyPr>
            <a:normAutofit fontScale="90000"/>
          </a:bodyPr>
          <a:lstStyle/>
          <a:p>
            <a:r>
              <a:rPr lang="en-IN" b="1" kern="100" dirty="0">
                <a:solidFill>
                  <a:srgbClr val="FF0000"/>
                </a:solidFill>
                <a:effectLst/>
                <a:latin typeface="Times New Roman" panose="02020603050405020304" pitchFamily="18" charset="0"/>
                <a:ea typeface="Tahoma" panose="020B0604030504040204" pitchFamily="34" charset="0"/>
                <a:cs typeface="Times New Roman" panose="02020603050405020304" pitchFamily="18" charset="0"/>
              </a:rPr>
              <a:t>Literature Review</a:t>
            </a:r>
            <a:br>
              <a:rPr lang="en-IN" kern="100" dirty="0">
                <a:solidFill>
                  <a:srgbClr val="FF0000"/>
                </a:solidFill>
                <a:effectLst/>
                <a:latin typeface="Times New Roman" panose="02020603050405020304" pitchFamily="18" charset="0"/>
                <a:ea typeface="Tahoma" panose="020B0604030504040204" pitchFamily="34" charset="0"/>
                <a:cs typeface="Times New Roman" panose="02020603050405020304" pitchFamily="18" charset="0"/>
              </a:rPr>
            </a:br>
            <a:endParaRPr lang="en-IN"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8DD42D-B0A0-9873-ED30-5D01FD4E96FE}"/>
              </a:ext>
            </a:extLst>
          </p:cNvPr>
          <p:cNvSpPr>
            <a:spLocks noGrp="1"/>
          </p:cNvSpPr>
          <p:nvPr>
            <p:ph idx="1"/>
          </p:nvPr>
        </p:nvSpPr>
        <p:spPr>
          <a:xfrm>
            <a:off x="916858" y="1307690"/>
            <a:ext cx="10515600" cy="5125929"/>
          </a:xfrm>
        </p:spPr>
        <p:txBody>
          <a:bodyPr>
            <a:noAutofit/>
          </a:bodyPr>
          <a:lstStyle/>
          <a:p>
            <a:pPr algn="just">
              <a:lnSpc>
                <a:spcPct val="150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 Chaotic Compressive Sensing (CCS) algorithm was proposed in [1] to solve both problems of energy saving and data security. A combined compression algorithm [2] provided different biomedical signals that showed a significant improvement in the compression ratio with a small maximum error for optimizing the network resource usage over Wireless Sensor Networks (WSN). </a:t>
            </a:r>
          </a:p>
          <a:p>
            <a:pPr algn="just">
              <a:lnSpc>
                <a:spcPct val="150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Several varieties of EEG compression algorithms have been proposed in literature. Srinivasan et al. [3] proposed a high-performance wavelet-based EEG compression while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Sriraam</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et al. [4] presented an adaptive error modelling scheme. Shaw et al. [5] presented an excellent algorithm for EEG signals in high dimensionality. Shaw et al. proposed a compression method for multichannel EEG data with improved storage capacity and efficiency in transmission. A lossless and near-lossless algorithm of EEG compression was presented in [6]. The literature proposed two modes of compression for different platform with individual capability. An algorithm for classifying multichannel EEG data through a promising tool called the fuzzy multichannel EEG classifier was proposed in [7]. This supports different EEG signals that were collected at different time instants.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700" dirty="0"/>
          </a:p>
        </p:txBody>
      </p:sp>
      <p:sp>
        <p:nvSpPr>
          <p:cNvPr id="4" name="Slide Number Placeholder 3">
            <a:extLst>
              <a:ext uri="{FF2B5EF4-FFF2-40B4-BE49-F238E27FC236}">
                <a16:creationId xmlns:a16="http://schemas.microsoft.com/office/drawing/2014/main" id="{1F7891FE-E425-812A-39C7-7D0C638D1853}"/>
              </a:ext>
            </a:extLst>
          </p:cNvPr>
          <p:cNvSpPr>
            <a:spLocks noGrp="1"/>
          </p:cNvSpPr>
          <p:nvPr>
            <p:ph type="sldNum" sz="quarter" idx="12"/>
          </p:nvPr>
        </p:nvSpPr>
        <p:spPr/>
        <p:txBody>
          <a:bodyPr/>
          <a:lstStyle/>
          <a:p>
            <a:fld id="{6056E8CA-A20A-4514-AD88-EC1BA30A10F7}" type="slidenum">
              <a:rPr lang="en-IN" smtClean="0"/>
              <a:t>5</a:t>
            </a:fld>
            <a:endParaRPr lang="en-IN"/>
          </a:p>
        </p:txBody>
      </p:sp>
    </p:spTree>
    <p:extLst>
      <p:ext uri="{BB962C8B-B14F-4D97-AF65-F5344CB8AC3E}">
        <p14:creationId xmlns:p14="http://schemas.microsoft.com/office/powerpoint/2010/main" val="991993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428B82-ABBF-D807-C1A6-075A336241EE}"/>
              </a:ext>
            </a:extLst>
          </p:cNvPr>
          <p:cNvSpPr>
            <a:spLocks noGrp="1"/>
          </p:cNvSpPr>
          <p:nvPr>
            <p:ph idx="1"/>
          </p:nvPr>
        </p:nvSpPr>
        <p:spPr>
          <a:xfrm>
            <a:off x="710381" y="513939"/>
            <a:ext cx="10515600" cy="5830122"/>
          </a:xfrm>
        </p:spPr>
        <p:txBody>
          <a:bodyPr>
            <a:normAutofit fontScale="92500" lnSpcReduction="10000"/>
          </a:bodyPr>
          <a:lstStyle/>
          <a:p>
            <a:pPr algn="just">
              <a:lnSpc>
                <a:spcPct val="150000"/>
              </a:lnSpc>
              <a:spcAft>
                <a:spcPts val="800"/>
              </a:spcAft>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The previously proposed algorithms were able to attain a high performance in terms of both compression rate and complexity in their VLSI architecture. Chua et al. [8] proposed a VLSI implementation of a mixed bio-signal lossless data compression together with its EEG signal compression. The said work presented a detailed figure of merits for the different compression methodologies.</a:t>
            </a:r>
          </a:p>
          <a:p>
            <a:pPr algn="just">
              <a:lnSpc>
                <a:spcPct val="150000"/>
              </a:lnSpc>
              <a:spcAft>
                <a:spcPts val="800"/>
              </a:spcAft>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On the other hand, several compression techniques were also proposed for electrocardiography (ECG) signals. Chen et al. [9] developed a slope prediction-based algorithm while Chen et al. [10] proposed a novel adaptive trending prediction with Huffman coding architecture that was extended by implementing a fuzzy decision technique for a more efficient and precise signal prediction .These 3 previously proposed methods in literature provided a reliable reference for EEG compression in VLSI implementation. Recently, an adaptive resolution control and a fuzzy resolution control techniques for body signals have been proposed. Although these variable resolution control techniques can improve the compression rate efficiently, there is significant information that was lost in the body signal</a:t>
            </a:r>
            <a:r>
              <a:rPr lang="en-IN" kern="100" dirty="0">
                <a:latin typeface="Times New Roman" panose="02020603050405020304" pitchFamily="18" charset="0"/>
                <a:ea typeface="Calibri" panose="020F0502020204030204" pitchFamily="34" charset="0"/>
                <a:cs typeface="Times New Roman" panose="02020603050405020304" pitchFamily="18" charset="0"/>
              </a:rPr>
              <a:t>.</a:t>
            </a:r>
          </a:p>
          <a:p>
            <a:endParaRPr lang="en-IN" sz="2000" dirty="0"/>
          </a:p>
        </p:txBody>
      </p:sp>
      <p:sp>
        <p:nvSpPr>
          <p:cNvPr id="2" name="Slide Number Placeholder 1">
            <a:extLst>
              <a:ext uri="{FF2B5EF4-FFF2-40B4-BE49-F238E27FC236}">
                <a16:creationId xmlns:a16="http://schemas.microsoft.com/office/drawing/2014/main" id="{7F404044-A661-7218-D528-F14CD672567C}"/>
              </a:ext>
            </a:extLst>
          </p:cNvPr>
          <p:cNvSpPr>
            <a:spLocks noGrp="1"/>
          </p:cNvSpPr>
          <p:nvPr>
            <p:ph type="sldNum" sz="quarter" idx="12"/>
          </p:nvPr>
        </p:nvSpPr>
        <p:spPr/>
        <p:txBody>
          <a:bodyPr/>
          <a:lstStyle/>
          <a:p>
            <a:fld id="{6056E8CA-A20A-4514-AD88-EC1BA30A10F7}" type="slidenum">
              <a:rPr lang="en-IN" smtClean="0"/>
              <a:t>6</a:t>
            </a:fld>
            <a:endParaRPr lang="en-IN"/>
          </a:p>
        </p:txBody>
      </p:sp>
    </p:spTree>
    <p:extLst>
      <p:ext uri="{BB962C8B-B14F-4D97-AF65-F5344CB8AC3E}">
        <p14:creationId xmlns:p14="http://schemas.microsoft.com/office/powerpoint/2010/main" val="3929187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13B8E-BEBB-509F-1C50-D505F9A93427}"/>
              </a:ext>
            </a:extLst>
          </p:cNvPr>
          <p:cNvSpPr>
            <a:spLocks noGrp="1"/>
          </p:cNvSpPr>
          <p:nvPr>
            <p:ph type="title"/>
          </p:nvPr>
        </p:nvSpPr>
        <p:spPr>
          <a:xfrm>
            <a:off x="611661" y="173125"/>
            <a:ext cx="10131425" cy="1456267"/>
          </a:xfrm>
        </p:spPr>
        <p:txBody>
          <a:bodyPr/>
          <a:lstStyle/>
          <a:p>
            <a:r>
              <a:rPr lang="en-IN" sz="4000" b="1" dirty="0">
                <a:solidFill>
                  <a:srgbClr val="FF0000"/>
                </a:solidFill>
                <a:latin typeface="Times New Roman" panose="02020603050405020304" pitchFamily="18" charset="0"/>
                <a:cs typeface="Times New Roman" panose="02020603050405020304" pitchFamily="18" charset="0"/>
              </a:rPr>
              <a:t>Exiting</a:t>
            </a:r>
            <a:r>
              <a:rPr lang="en-IN" b="1"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Methodology</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5FE8377-0EE8-93E7-DA86-1BED6473FB13}"/>
              </a:ext>
            </a:extLst>
          </p:cNvPr>
          <p:cNvPicPr>
            <a:picLocks noGrp="1" noChangeAspect="1"/>
          </p:cNvPicPr>
          <p:nvPr>
            <p:ph idx="1"/>
          </p:nvPr>
        </p:nvPicPr>
        <p:blipFill>
          <a:blip r:embed="rId2"/>
          <a:stretch>
            <a:fillRect/>
          </a:stretch>
        </p:blipFill>
        <p:spPr>
          <a:xfrm>
            <a:off x="1297459" y="1636862"/>
            <a:ext cx="9959863" cy="4294381"/>
          </a:xfrm>
        </p:spPr>
      </p:pic>
      <p:sp>
        <p:nvSpPr>
          <p:cNvPr id="3" name="Slide Number Placeholder 2">
            <a:extLst>
              <a:ext uri="{FF2B5EF4-FFF2-40B4-BE49-F238E27FC236}">
                <a16:creationId xmlns:a16="http://schemas.microsoft.com/office/drawing/2014/main" id="{5E3F0A29-0D5C-8CF1-DC91-0D04028D8C2B}"/>
              </a:ext>
            </a:extLst>
          </p:cNvPr>
          <p:cNvSpPr>
            <a:spLocks noGrp="1"/>
          </p:cNvSpPr>
          <p:nvPr>
            <p:ph type="sldNum" sz="quarter" idx="12"/>
          </p:nvPr>
        </p:nvSpPr>
        <p:spPr/>
        <p:txBody>
          <a:bodyPr/>
          <a:lstStyle/>
          <a:p>
            <a:fld id="{6056E8CA-A20A-4514-AD88-EC1BA30A10F7}" type="slidenum">
              <a:rPr lang="en-IN" smtClean="0"/>
              <a:t>7</a:t>
            </a:fld>
            <a:endParaRPr lang="en-IN"/>
          </a:p>
        </p:txBody>
      </p:sp>
    </p:spTree>
    <p:extLst>
      <p:ext uri="{BB962C8B-B14F-4D97-AF65-F5344CB8AC3E}">
        <p14:creationId xmlns:p14="http://schemas.microsoft.com/office/powerpoint/2010/main" val="3861777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0103" y="0"/>
            <a:ext cx="10131425" cy="1456267"/>
          </a:xfrm>
        </p:spPr>
        <p:txBody>
          <a:bodyPr/>
          <a:lstStyle/>
          <a:p>
            <a:r>
              <a:rPr lang="en-US" sz="4000" b="1" dirty="0">
                <a:solidFill>
                  <a:srgbClr val="FF0000"/>
                </a:solidFill>
                <a:latin typeface="Times New Roman" panose="02020603050405020304" pitchFamily="18" charset="0"/>
                <a:cs typeface="Times New Roman" panose="02020603050405020304" pitchFamily="18" charset="0"/>
              </a:rPr>
              <a:t>EXISTING SYSTEM</a:t>
            </a:r>
            <a:endParaRPr lang="en-IN" dirty="0"/>
          </a:p>
        </p:txBody>
      </p:sp>
      <p:sp>
        <p:nvSpPr>
          <p:cNvPr id="3" name="Content Placeholder 2"/>
          <p:cNvSpPr>
            <a:spLocks noGrp="1"/>
          </p:cNvSpPr>
          <p:nvPr>
            <p:ph idx="1"/>
          </p:nvPr>
        </p:nvSpPr>
        <p:spPr>
          <a:xfrm>
            <a:off x="580103" y="364520"/>
            <a:ext cx="10972800" cy="5963127"/>
          </a:xfrm>
        </p:spPr>
        <p:txBody>
          <a:bodyPr>
            <a:normAutofit/>
          </a:bodyPr>
          <a:lstStyle/>
          <a:p>
            <a:pPr lvl="0">
              <a:buFont typeface="Wingdings" pitchFamily="2" charset="2"/>
              <a:buChar char="ü"/>
            </a:pPr>
            <a:r>
              <a:rPr lang="en-US" sz="2400" dirty="0">
                <a:latin typeface="Times New Roman" panose="02020603050405020304" pitchFamily="18" charset="0"/>
                <a:cs typeface="Times New Roman" panose="02020603050405020304" pitchFamily="18" charset="0"/>
              </a:rPr>
              <a:t>Input is 12 bit which is small information of ECG signal.</a:t>
            </a:r>
            <a:endParaRPr lang="en-IN" sz="2400" dirty="0">
              <a:latin typeface="Times New Roman" panose="02020603050405020304" pitchFamily="18" charset="0"/>
              <a:cs typeface="Times New Roman" panose="02020603050405020304" pitchFamily="18" charset="0"/>
            </a:endParaRPr>
          </a:p>
          <a:p>
            <a:pPr lvl="0">
              <a:buFont typeface="Wingdings" pitchFamily="2" charset="2"/>
              <a:buChar char="ü"/>
            </a:pPr>
            <a:r>
              <a:rPr lang="en-US" sz="2400" dirty="0">
                <a:latin typeface="Times New Roman" panose="02020603050405020304" pitchFamily="18" charset="0"/>
                <a:cs typeface="Times New Roman" panose="02020603050405020304" pitchFamily="18" charset="0"/>
              </a:rPr>
              <a:t>Uses Adaptive linear prediction.</a:t>
            </a:r>
            <a:endParaRPr lang="en-IN" sz="2400" dirty="0">
              <a:latin typeface="Times New Roman" panose="02020603050405020304" pitchFamily="18" charset="0"/>
              <a:cs typeface="Times New Roman" panose="02020603050405020304" pitchFamily="18" charset="0"/>
            </a:endParaRPr>
          </a:p>
          <a:p>
            <a:pPr lvl="0">
              <a:buFont typeface="Wingdings" pitchFamily="2" charset="2"/>
              <a:buChar char="ü"/>
            </a:pPr>
            <a:r>
              <a:rPr lang="en-IN" sz="2400" dirty="0">
                <a:latin typeface="Times New Roman" panose="02020603050405020304" pitchFamily="18" charset="0"/>
                <a:cs typeface="Times New Roman" panose="02020603050405020304" pitchFamily="18" charset="0"/>
              </a:rPr>
              <a:t>The encryption is correlation coefficient to recreate the original message.</a:t>
            </a:r>
          </a:p>
          <a:p>
            <a:pPr lvl="0">
              <a:buFont typeface="Wingdings" pitchFamily="2" charset="2"/>
              <a:buChar char="ü"/>
            </a:pPr>
            <a:r>
              <a:rPr lang="en-IN" sz="2400" dirty="0">
                <a:latin typeface="Times New Roman" panose="02020603050405020304" pitchFamily="18" charset="0"/>
                <a:cs typeface="Times New Roman" panose="02020603050405020304" pitchFamily="18" charset="0"/>
              </a:rPr>
              <a:t>The decryption stage, the coded data services related to the first set of 12-bit ECG data and the 3-bit k variable for each channel.</a:t>
            </a:r>
          </a:p>
          <a:p>
            <a:pPr marL="0" lvl="0" indent="0">
              <a:buNone/>
            </a:pPr>
            <a:endParaRPr lang="en-IN" sz="4000" b="1" cap="all" dirty="0">
              <a:ln w="3175" cmpd="sng">
                <a:noFill/>
              </a:ln>
              <a:solidFill>
                <a:srgbClr val="FF0000"/>
              </a:solidFill>
              <a:latin typeface="Times New Roman" panose="02020603050405020304" pitchFamily="18" charset="0"/>
              <a:ea typeface="+mj-ea"/>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8AF65EC-4F30-B22F-49E1-375133CAD8BF}"/>
              </a:ext>
            </a:extLst>
          </p:cNvPr>
          <p:cNvSpPr>
            <a:spLocks noGrp="1"/>
          </p:cNvSpPr>
          <p:nvPr>
            <p:ph type="sldNum" sz="quarter" idx="12"/>
          </p:nvPr>
        </p:nvSpPr>
        <p:spPr/>
        <p:txBody>
          <a:bodyPr/>
          <a:lstStyle/>
          <a:p>
            <a:fld id="{6056E8CA-A20A-4514-AD88-EC1BA30A10F7}" type="slidenum">
              <a:rPr lang="en-IN" smtClean="0"/>
              <a:t>8</a:t>
            </a:fld>
            <a:endParaRPr lang="en-IN"/>
          </a:p>
        </p:txBody>
      </p:sp>
    </p:spTree>
    <p:extLst>
      <p:ext uri="{BB962C8B-B14F-4D97-AF65-F5344CB8AC3E}">
        <p14:creationId xmlns:p14="http://schemas.microsoft.com/office/powerpoint/2010/main" val="3525095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1DEB-9926-371E-470B-AAB2EA4A8136}"/>
              </a:ext>
            </a:extLst>
          </p:cNvPr>
          <p:cNvSpPr>
            <a:spLocks noGrp="1"/>
          </p:cNvSpPr>
          <p:nvPr>
            <p:ph type="title"/>
          </p:nvPr>
        </p:nvSpPr>
        <p:spPr>
          <a:xfrm>
            <a:off x="181305" y="136635"/>
            <a:ext cx="8920707" cy="1208689"/>
          </a:xfrm>
        </p:spPr>
        <p:txBody>
          <a:bodyPr>
            <a:normAutofit/>
          </a:bodyPr>
          <a:lstStyle/>
          <a:p>
            <a:r>
              <a:rPr lang="en-IN"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ECG Data Acquisition Method</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A927FE0-4656-E763-7195-74114D17B1D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5211" y="1200868"/>
            <a:ext cx="9680027" cy="5310060"/>
          </a:xfrm>
          <a:prstGeom prst="rect">
            <a:avLst/>
          </a:prstGeom>
          <a:noFill/>
          <a:ln>
            <a:noFill/>
          </a:ln>
        </p:spPr>
      </p:pic>
      <p:sp>
        <p:nvSpPr>
          <p:cNvPr id="3" name="Slide Number Placeholder 2">
            <a:extLst>
              <a:ext uri="{FF2B5EF4-FFF2-40B4-BE49-F238E27FC236}">
                <a16:creationId xmlns:a16="http://schemas.microsoft.com/office/drawing/2014/main" id="{B36F3A4E-924D-397F-E5DC-A88D9D8805AA}"/>
              </a:ext>
            </a:extLst>
          </p:cNvPr>
          <p:cNvSpPr>
            <a:spLocks noGrp="1"/>
          </p:cNvSpPr>
          <p:nvPr>
            <p:ph type="sldNum" sz="quarter" idx="12"/>
          </p:nvPr>
        </p:nvSpPr>
        <p:spPr/>
        <p:txBody>
          <a:bodyPr/>
          <a:lstStyle/>
          <a:p>
            <a:fld id="{6056E8CA-A20A-4514-AD88-EC1BA30A10F7}" type="slidenum">
              <a:rPr lang="en-IN" smtClean="0"/>
              <a:t>9</a:t>
            </a:fld>
            <a:endParaRPr lang="en-IN"/>
          </a:p>
        </p:txBody>
      </p:sp>
    </p:spTree>
    <p:extLst>
      <p:ext uri="{BB962C8B-B14F-4D97-AF65-F5344CB8AC3E}">
        <p14:creationId xmlns:p14="http://schemas.microsoft.com/office/powerpoint/2010/main" val="2421125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FFBBD-8346-CC7E-214C-2198D8F215F7}"/>
              </a:ext>
            </a:extLst>
          </p:cNvPr>
          <p:cNvSpPr>
            <a:spLocks noGrp="1"/>
          </p:cNvSpPr>
          <p:nvPr>
            <p:ph type="title"/>
          </p:nvPr>
        </p:nvSpPr>
        <p:spPr>
          <a:xfrm>
            <a:off x="1030287" y="493776"/>
            <a:ext cx="10131425" cy="762000"/>
          </a:xfrm>
        </p:spPr>
        <p:txBody>
          <a:bodyPr>
            <a:normAutofit fontScale="90000"/>
          </a:bodyPr>
          <a:lstStyle/>
          <a:p>
            <a:r>
              <a:rPr lang="en-US" sz="4400" b="1" dirty="0">
                <a:solidFill>
                  <a:srgbClr val="FF0000"/>
                </a:solidFill>
                <a:latin typeface="Times New Roman" panose="02020603050405020304" pitchFamily="18" charset="0"/>
                <a:cs typeface="Times New Roman" panose="02020603050405020304" pitchFamily="18" charset="0"/>
              </a:rPr>
              <a:t>workplan</a:t>
            </a:r>
            <a:br>
              <a:rPr lang="en-US" dirty="0"/>
            </a:br>
            <a:r>
              <a:rPr lang="en-US" dirty="0"/>
              <a:t>                                   </a:t>
            </a:r>
          </a:p>
        </p:txBody>
      </p:sp>
      <p:sp>
        <p:nvSpPr>
          <p:cNvPr id="3" name="Content Placeholder 2">
            <a:extLst>
              <a:ext uri="{FF2B5EF4-FFF2-40B4-BE49-F238E27FC236}">
                <a16:creationId xmlns:a16="http://schemas.microsoft.com/office/drawing/2014/main" id="{25D9C563-17B8-4D2A-5F77-41CC238BF68D}"/>
              </a:ext>
            </a:extLst>
          </p:cNvPr>
          <p:cNvSpPr>
            <a:spLocks noGrp="1"/>
          </p:cNvSpPr>
          <p:nvPr>
            <p:ph idx="1"/>
          </p:nvPr>
        </p:nvSpPr>
        <p:spPr>
          <a:xfrm>
            <a:off x="832105" y="1255776"/>
            <a:ext cx="10131425" cy="3328416"/>
          </a:xfrm>
        </p:spPr>
        <p:txBody>
          <a:bodyPr>
            <a:noAutofit/>
          </a:bodyPr>
          <a:lstStyle/>
          <a:p>
            <a:pPr marL="0" indent="0">
              <a:buNone/>
            </a:pPr>
            <a:r>
              <a:rPr lang="en-US" sz="2200" dirty="0">
                <a:latin typeface="Times New Roman" panose="02020603050405020304" pitchFamily="18" charset="0"/>
                <a:cs typeface="Times New Roman" panose="02020603050405020304" pitchFamily="18" charset="0"/>
              </a:rPr>
              <a:t>                                                           </a:t>
            </a:r>
          </a:p>
          <a:p>
            <a:pPr marL="0" indent="0">
              <a:buNone/>
            </a:pPr>
            <a:r>
              <a:rPr lang="en-US" sz="2200" dirty="0">
                <a:latin typeface="Times New Roman" panose="02020603050405020304" pitchFamily="18" charset="0"/>
                <a:cs typeface="Times New Roman" panose="02020603050405020304" pitchFamily="18" charset="0"/>
              </a:rPr>
              <a:t>                                                              Phase I</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Literature Survey</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Implementation of Existing System</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Journal Publication – I</a:t>
            </a:r>
          </a:p>
          <a:p>
            <a:pPr marL="0" indent="0">
              <a:buNone/>
            </a:pPr>
            <a:r>
              <a:rPr lang="en-US" sz="2200" dirty="0">
                <a:latin typeface="Times New Roman" panose="02020603050405020304" pitchFamily="18" charset="0"/>
                <a:cs typeface="Times New Roman" panose="02020603050405020304" pitchFamily="18" charset="0"/>
              </a:rPr>
              <a:t>                                                               </a:t>
            </a:r>
          </a:p>
          <a:p>
            <a:pPr marL="0" indent="0">
              <a:buNone/>
            </a:pPr>
            <a:r>
              <a:rPr lang="en-US" sz="2200" dirty="0">
                <a:latin typeface="Times New Roman" panose="02020603050405020304" pitchFamily="18" charset="0"/>
                <a:cs typeface="Times New Roman" panose="02020603050405020304" pitchFamily="18" charset="0"/>
              </a:rPr>
              <a:t>                                                               Phase II</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Implementation of Proposed System</a:t>
            </a:r>
          </a:p>
          <a:p>
            <a:pPr>
              <a:buFont typeface="Wingdings" panose="05000000000000000000" pitchFamily="2" charset="2"/>
              <a:buChar char="ü"/>
            </a:pPr>
            <a:r>
              <a:rPr lang="en-US" sz="2200" dirty="0" err="1">
                <a:latin typeface="Times New Roman" panose="02020603050405020304" pitchFamily="18" charset="0"/>
                <a:cs typeface="Times New Roman" panose="02020603050405020304" pitchFamily="18" charset="0"/>
              </a:rPr>
              <a:t>Comparsion</a:t>
            </a:r>
            <a:r>
              <a:rPr lang="en-US" sz="2200" dirty="0">
                <a:latin typeface="Times New Roman" panose="02020603050405020304" pitchFamily="18" charset="0"/>
                <a:cs typeface="Times New Roman" panose="02020603050405020304" pitchFamily="18" charset="0"/>
              </a:rPr>
              <a:t> of Existing &amp; Proposed System </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Journal Publication-II</a:t>
            </a:r>
          </a:p>
        </p:txBody>
      </p:sp>
      <p:sp>
        <p:nvSpPr>
          <p:cNvPr id="4" name="Slide Number Placeholder 3">
            <a:extLst>
              <a:ext uri="{FF2B5EF4-FFF2-40B4-BE49-F238E27FC236}">
                <a16:creationId xmlns:a16="http://schemas.microsoft.com/office/drawing/2014/main" id="{7155EF26-2FD6-3846-3606-D6DB782C2CEA}"/>
              </a:ext>
            </a:extLst>
          </p:cNvPr>
          <p:cNvSpPr>
            <a:spLocks noGrp="1"/>
          </p:cNvSpPr>
          <p:nvPr>
            <p:ph type="sldNum" sz="quarter" idx="12"/>
          </p:nvPr>
        </p:nvSpPr>
        <p:spPr/>
        <p:txBody>
          <a:bodyPr/>
          <a:lstStyle/>
          <a:p>
            <a:fld id="{6056E8CA-A20A-4514-AD88-EC1BA30A10F7}" type="slidenum">
              <a:rPr lang="en-IN" smtClean="0"/>
              <a:t>10</a:t>
            </a:fld>
            <a:endParaRPr lang="en-IN"/>
          </a:p>
        </p:txBody>
      </p:sp>
    </p:spTree>
    <p:extLst>
      <p:ext uri="{BB962C8B-B14F-4D97-AF65-F5344CB8AC3E}">
        <p14:creationId xmlns:p14="http://schemas.microsoft.com/office/powerpoint/2010/main" val="3398378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296" y="198783"/>
            <a:ext cx="10131425" cy="715617"/>
          </a:xfrm>
        </p:spPr>
        <p:txBody>
          <a:bodyPr>
            <a:normAutofit fontScale="90000"/>
          </a:bodyPr>
          <a:lstStyle/>
          <a:p>
            <a:br>
              <a:rPr lang="en-US" b="1" dirty="0">
                <a:solidFill>
                  <a:srgbClr val="FF0000"/>
                </a:solidFill>
                <a:latin typeface="Times New Roman" panose="02020603050405020304" pitchFamily="18" charset="0"/>
                <a:cs typeface="Times New Roman" panose="02020603050405020304" pitchFamily="18" charset="0"/>
              </a:rPr>
            </a:br>
            <a:br>
              <a:rPr lang="en-US" b="1" dirty="0">
                <a:solidFill>
                  <a:srgbClr val="FF0000"/>
                </a:solidFill>
                <a:latin typeface="Times New Roman" panose="02020603050405020304" pitchFamily="18" charset="0"/>
                <a:cs typeface="Times New Roman" panose="02020603050405020304" pitchFamily="18" charset="0"/>
              </a:rPr>
            </a:br>
            <a:r>
              <a:rPr lang="en-US" b="1" dirty="0">
                <a:solidFill>
                  <a:srgbClr val="FF0000"/>
                </a:solidFill>
                <a:latin typeface="Times New Roman" panose="02020603050405020304" pitchFamily="18" charset="0"/>
                <a:cs typeface="Times New Roman" panose="02020603050405020304" pitchFamily="18" charset="0"/>
              </a:rPr>
              <a:t>References</a:t>
            </a:r>
            <a:br>
              <a:rPr lang="en-US" b="1" dirty="0">
                <a:solidFill>
                  <a:srgbClr val="FF0000"/>
                </a:solidFill>
                <a:latin typeface="Times New Roman" panose="02020603050405020304" pitchFamily="18" charset="0"/>
                <a:cs typeface="Times New Roman" panose="02020603050405020304" pitchFamily="18" charset="0"/>
              </a:rPr>
            </a:br>
            <a:br>
              <a:rPr lang="en-US" b="1" dirty="0">
                <a:solidFill>
                  <a:srgbClr val="FF0000"/>
                </a:solidFill>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999897" y="914400"/>
            <a:ext cx="10048600" cy="5897218"/>
          </a:xfrm>
        </p:spPr>
        <p:txBody>
          <a:bodyPr>
            <a:normAutofit fontScale="77500" lnSpcReduction="20000"/>
          </a:bodyPr>
          <a:lstStyle/>
          <a:p>
            <a:pPr>
              <a:buFont typeface="Wingdings" pitchFamily="2" charset="2"/>
              <a:buChar char="ü"/>
            </a:pPr>
            <a:r>
              <a:rPr lang="en-IN" sz="2200" dirty="0">
                <a:latin typeface="Times New Roman" panose="02020603050405020304" pitchFamily="18" charset="0"/>
                <a:cs typeface="Times New Roman" panose="02020603050405020304" pitchFamily="18" charset="0"/>
              </a:rPr>
              <a:t>P G </a:t>
            </a:r>
            <a:r>
              <a:rPr lang="en-IN" sz="2200" dirty="0" err="1">
                <a:latin typeface="Times New Roman" panose="02020603050405020304" pitchFamily="18" charset="0"/>
                <a:cs typeface="Times New Roman" panose="02020603050405020304" pitchFamily="18" charset="0"/>
              </a:rPr>
              <a:t>Kuppusamy</a:t>
            </a:r>
            <a:r>
              <a:rPr lang="en-IN" sz="2200" dirty="0">
                <a:latin typeface="Times New Roman" panose="02020603050405020304" pitchFamily="18" charset="0"/>
                <a:cs typeface="Times New Roman" panose="02020603050405020304" pitchFamily="18" charset="0"/>
              </a:rPr>
              <a:t>, R </a:t>
            </a:r>
            <a:r>
              <a:rPr lang="en-IN" sz="2200" dirty="0" err="1">
                <a:latin typeface="Times New Roman" panose="02020603050405020304" pitchFamily="18" charset="0"/>
                <a:cs typeface="Times New Roman" panose="02020603050405020304" pitchFamily="18" charset="0"/>
              </a:rPr>
              <a:t>Sureshkumar</a:t>
            </a:r>
            <a:r>
              <a:rPr lang="en-IN" sz="2200" dirty="0">
                <a:latin typeface="Times New Roman" panose="02020603050405020304" pitchFamily="18" charset="0"/>
                <a:cs typeface="Times New Roman" panose="02020603050405020304" pitchFamily="18" charset="0"/>
              </a:rPr>
              <a:t>, S A </a:t>
            </a:r>
            <a:r>
              <a:rPr lang="en-IN" sz="2200" dirty="0" err="1">
                <a:latin typeface="Times New Roman" panose="02020603050405020304" pitchFamily="18" charset="0"/>
                <a:cs typeface="Times New Roman" panose="02020603050405020304" pitchFamily="18" charset="0"/>
              </a:rPr>
              <a:t>Yuvaraj</a:t>
            </a:r>
            <a:r>
              <a:rPr lang="en-IN" sz="2200" dirty="0">
                <a:latin typeface="Times New Roman" panose="02020603050405020304" pitchFamily="18" charset="0"/>
                <a:cs typeface="Times New Roman" panose="02020603050405020304" pitchFamily="18" charset="0"/>
              </a:rPr>
              <a:t> and E </a:t>
            </a:r>
            <a:r>
              <a:rPr lang="en-IN" sz="2200" dirty="0" err="1">
                <a:latin typeface="Times New Roman" panose="02020603050405020304" pitchFamily="18" charset="0"/>
                <a:cs typeface="Times New Roman" panose="02020603050405020304" pitchFamily="18" charset="0"/>
              </a:rPr>
              <a:t>Dilliraj</a:t>
            </a:r>
            <a:r>
              <a:rPr lang="en-IN" sz="2200" dirty="0">
                <a:latin typeface="Times New Roman" panose="02020603050405020304" pitchFamily="18" charset="0"/>
                <a:cs typeface="Times New Roman" panose="02020603050405020304" pitchFamily="18" charset="0"/>
              </a:rPr>
              <a:t> (2020) . “</a:t>
            </a:r>
            <a:r>
              <a:rPr lang="en-IN" sz="2200" i="1" dirty="0">
                <a:latin typeface="Times New Roman" panose="02020603050405020304" pitchFamily="18" charset="0"/>
                <a:cs typeface="Times New Roman" panose="02020603050405020304" pitchFamily="18" charset="0"/>
              </a:rPr>
              <a:t>Advances in Computational Electronics and Communication </a:t>
            </a:r>
            <a:r>
              <a:rPr lang="en-IN" sz="2200" i="1" dirty="0" err="1">
                <a:latin typeface="Times New Roman" panose="02020603050405020304" pitchFamily="18" charset="0"/>
                <a:cs typeface="Times New Roman" panose="02020603050405020304" pitchFamily="18" charset="0"/>
              </a:rPr>
              <a:t>Engineering</a:t>
            </a:r>
            <a:r>
              <a:rPr lang="en-IN" sz="2200" dirty="0" err="1">
                <a:latin typeface="Times New Roman" panose="02020603050405020304" pitchFamily="18" charset="0"/>
                <a:cs typeface="Times New Roman" panose="02020603050405020304" pitchFamily="18" charset="0"/>
              </a:rPr>
              <a:t>”.Published</a:t>
            </a:r>
            <a:r>
              <a:rPr lang="en-IN" sz="2200" dirty="0">
                <a:latin typeface="Times New Roman" panose="02020603050405020304" pitchFamily="18" charset="0"/>
                <a:cs typeface="Times New Roman" panose="02020603050405020304" pitchFamily="18" charset="0"/>
              </a:rPr>
              <a:t> under licence by IOP Publishing Ltd Journal of Physics</a:t>
            </a:r>
            <a:r>
              <a:rPr lang="es-ES" sz="2200" dirty="0">
                <a:latin typeface="Times New Roman" panose="02020603050405020304" pitchFamily="18" charset="0"/>
                <a:cs typeface="Times New Roman" panose="02020603050405020304" pitchFamily="18" charset="0"/>
              </a:rPr>
              <a:t>.Ser. 1964 062073 </a:t>
            </a:r>
            <a:r>
              <a:rPr lang="en-IN" sz="2200" dirty="0">
                <a:latin typeface="Times New Roman" panose="02020603050405020304" pitchFamily="18" charset="0"/>
                <a:cs typeface="Times New Roman" panose="02020603050405020304" pitchFamily="18" charset="0"/>
              </a:rPr>
              <a:t>: Conference Series, Volume 1964.</a:t>
            </a:r>
          </a:p>
          <a:p>
            <a:pPr>
              <a:buFont typeface="Wingdings" pitchFamily="2" charset="2"/>
              <a:buChar char="ü"/>
            </a:pPr>
            <a:r>
              <a:rPr lang="en-IN" sz="2200" dirty="0">
                <a:latin typeface="Times New Roman" panose="02020603050405020304" pitchFamily="18" charset="0"/>
                <a:cs typeface="Times New Roman" panose="02020603050405020304" pitchFamily="18" charset="0"/>
              </a:rPr>
              <a:t>Tsai, T. H., &amp;</a:t>
            </a:r>
            <a:r>
              <a:rPr lang="en-IN" sz="2200" dirty="0" err="1">
                <a:latin typeface="Times New Roman" panose="02020603050405020304" pitchFamily="18" charset="0"/>
                <a:cs typeface="Times New Roman" panose="02020603050405020304" pitchFamily="18" charset="0"/>
              </a:rPr>
              <a:t>Kuo</a:t>
            </a:r>
            <a:r>
              <a:rPr lang="en-IN" sz="2200" dirty="0">
                <a:latin typeface="Times New Roman" panose="02020603050405020304" pitchFamily="18" charset="0"/>
                <a:cs typeface="Times New Roman" panose="02020603050405020304" pitchFamily="18" charset="0"/>
              </a:rPr>
              <a:t>, W. T. (2018). “</a:t>
            </a:r>
            <a:r>
              <a:rPr lang="en-IN" sz="2200" i="1" dirty="0">
                <a:latin typeface="Times New Roman" panose="02020603050405020304" pitchFamily="18" charset="0"/>
                <a:cs typeface="Times New Roman" panose="02020603050405020304" pitchFamily="18" charset="0"/>
              </a:rPr>
              <a:t>An efficient ECG lossless compression system for embedded platforms with telemedicine applications</a:t>
            </a:r>
            <a:r>
              <a:rPr lang="en-IN" sz="2200" dirty="0">
                <a:latin typeface="Times New Roman" panose="02020603050405020304" pitchFamily="18" charset="0"/>
                <a:cs typeface="Times New Roman" panose="02020603050405020304" pitchFamily="18" charset="0"/>
              </a:rPr>
              <a:t>”. IEEE Access, 6, 42207-42215. 2. </a:t>
            </a:r>
          </a:p>
          <a:p>
            <a:pPr>
              <a:buFont typeface="Wingdings" pitchFamily="2" charset="2"/>
              <a:buChar char="ü"/>
            </a:pPr>
            <a:r>
              <a:rPr lang="en-IN" sz="2200" dirty="0">
                <a:latin typeface="Times New Roman" panose="02020603050405020304" pitchFamily="18" charset="0"/>
                <a:cs typeface="Times New Roman" panose="02020603050405020304" pitchFamily="18" charset="0"/>
              </a:rPr>
              <a:t>Tsai, T. H., &amp; Tsai, F. L. (2020) .”</a:t>
            </a:r>
            <a:r>
              <a:rPr lang="en-IN" sz="2200" i="1" dirty="0">
                <a:latin typeface="Times New Roman" panose="02020603050405020304" pitchFamily="18" charset="0"/>
                <a:cs typeface="Times New Roman" panose="02020603050405020304" pitchFamily="18" charset="0"/>
              </a:rPr>
              <a:t>Efficient lossless compression scheme for multi-channel ECG signal</a:t>
            </a:r>
            <a:r>
              <a:rPr lang="en-IN" sz="2200" dirty="0">
                <a:latin typeface="Times New Roman" panose="02020603050405020304" pitchFamily="18" charset="0"/>
                <a:cs typeface="Times New Roman" panose="02020603050405020304" pitchFamily="18" charset="0"/>
              </a:rPr>
              <a:t> </a:t>
            </a:r>
            <a:r>
              <a:rPr lang="en-IN" sz="2200" i="1" dirty="0">
                <a:latin typeface="Times New Roman" panose="02020603050405020304" pitchFamily="18" charset="0"/>
                <a:cs typeface="Times New Roman" panose="02020603050405020304" pitchFamily="18" charset="0"/>
              </a:rPr>
              <a:t>processing</a:t>
            </a:r>
            <a:r>
              <a:rPr lang="en-IN" sz="2200" dirty="0">
                <a:latin typeface="Times New Roman" panose="02020603050405020304" pitchFamily="18" charset="0"/>
                <a:cs typeface="Times New Roman" panose="02020603050405020304" pitchFamily="18" charset="0"/>
              </a:rPr>
              <a:t>”. Biomedical Signal Processing and Control, 59, 101879.</a:t>
            </a:r>
          </a:p>
          <a:p>
            <a:pPr>
              <a:buFont typeface="Wingdings" pitchFamily="2" charset="2"/>
              <a:buChar char="ü"/>
            </a:pPr>
            <a:r>
              <a:rPr lang="en-IN" sz="2200" dirty="0" err="1">
                <a:latin typeface="Times New Roman" panose="02020603050405020304" pitchFamily="18" charset="0"/>
                <a:cs typeface="Times New Roman" panose="02020603050405020304" pitchFamily="18" charset="0"/>
              </a:rPr>
              <a:t>Hameed</a:t>
            </a:r>
            <a:r>
              <a:rPr lang="en-IN" sz="2200" dirty="0">
                <a:latin typeface="Times New Roman" panose="02020603050405020304" pitchFamily="18" charset="0"/>
                <a:cs typeface="Times New Roman" panose="02020603050405020304" pitchFamily="18" charset="0"/>
              </a:rPr>
              <a:t>, M. E., Ibrahim, M. M., </a:t>
            </a:r>
            <a:r>
              <a:rPr lang="en-IN" sz="2200" dirty="0" err="1">
                <a:latin typeface="Times New Roman" panose="02020603050405020304" pitchFamily="18" charset="0"/>
                <a:cs typeface="Times New Roman" panose="02020603050405020304" pitchFamily="18" charset="0"/>
              </a:rPr>
              <a:t>Abd</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Manap</a:t>
            </a:r>
            <a:r>
              <a:rPr lang="en-IN" sz="2200" dirty="0">
                <a:latin typeface="Times New Roman" panose="02020603050405020304" pitchFamily="18" charset="0"/>
                <a:cs typeface="Times New Roman" panose="02020603050405020304" pitchFamily="18" charset="0"/>
              </a:rPr>
              <a:t>, N., &amp; Mohammed, A. A. (2020). “</a:t>
            </a:r>
            <a:r>
              <a:rPr lang="en-IN" sz="2200" i="1" dirty="0">
                <a:latin typeface="Times New Roman" panose="02020603050405020304" pitchFamily="18" charset="0"/>
                <a:cs typeface="Times New Roman" panose="02020603050405020304" pitchFamily="18" charset="0"/>
              </a:rPr>
              <a:t>A lossless compression and encryption mechanism for remote monitoring of ECG data using Huffman </a:t>
            </a:r>
            <a:r>
              <a:rPr lang="en-US" sz="2200" i="1" dirty="0">
                <a:latin typeface="Times New Roman" panose="02020603050405020304" pitchFamily="18" charset="0"/>
                <a:cs typeface="Times New Roman" panose="02020603050405020304" pitchFamily="18" charset="0"/>
              </a:rPr>
              <a:t>coding and CBC-AES</a:t>
            </a:r>
            <a:r>
              <a:rPr lang="en-US" sz="2200" dirty="0">
                <a:latin typeface="Times New Roman" panose="02020603050405020304" pitchFamily="18" charset="0"/>
                <a:cs typeface="Times New Roman" panose="02020603050405020304" pitchFamily="18" charset="0"/>
              </a:rPr>
              <a:t>”. Future Generation Computer Systems, 111, 829-840.</a:t>
            </a:r>
          </a:p>
          <a:p>
            <a:pPr>
              <a:buFont typeface="Wingdings" pitchFamily="2" charset="2"/>
              <a:buChar char="ü"/>
            </a:pPr>
            <a:r>
              <a:rPr lang="en-IN" sz="2200" dirty="0" err="1">
                <a:latin typeface="Times New Roman" panose="02020603050405020304" pitchFamily="18" charset="0"/>
                <a:cs typeface="Times New Roman" panose="02020603050405020304" pitchFamily="18" charset="0"/>
              </a:rPr>
              <a:t>Ibaida</a:t>
            </a:r>
            <a:r>
              <a:rPr lang="en-IN" sz="2200" dirty="0">
                <a:latin typeface="Times New Roman" panose="02020603050405020304" pitchFamily="18" charset="0"/>
                <a:cs typeface="Times New Roman" panose="02020603050405020304" pitchFamily="18" charset="0"/>
              </a:rPr>
              <a:t>, A., </a:t>
            </a:r>
            <a:r>
              <a:rPr lang="en-IN" sz="2200" dirty="0" err="1">
                <a:latin typeface="Times New Roman" panose="02020603050405020304" pitchFamily="18" charset="0"/>
                <a:cs typeface="Times New Roman" panose="02020603050405020304" pitchFamily="18" charset="0"/>
              </a:rPr>
              <a:t>Abuadbba</a:t>
            </a:r>
            <a:r>
              <a:rPr lang="en-IN" sz="2200" dirty="0">
                <a:latin typeface="Times New Roman" panose="02020603050405020304" pitchFamily="18" charset="0"/>
                <a:cs typeface="Times New Roman" panose="02020603050405020304" pitchFamily="18" charset="0"/>
              </a:rPr>
              <a:t>, A., &amp;</a:t>
            </a:r>
            <a:r>
              <a:rPr lang="en-IN" sz="2200" dirty="0" err="1">
                <a:latin typeface="Times New Roman" panose="02020603050405020304" pitchFamily="18" charset="0"/>
                <a:cs typeface="Times New Roman" panose="02020603050405020304" pitchFamily="18" charset="0"/>
              </a:rPr>
              <a:t>Chilamkurti</a:t>
            </a:r>
            <a:r>
              <a:rPr lang="en-IN" sz="2200" dirty="0">
                <a:latin typeface="Times New Roman" panose="02020603050405020304" pitchFamily="18" charset="0"/>
                <a:cs typeface="Times New Roman" panose="02020603050405020304" pitchFamily="18" charset="0"/>
              </a:rPr>
              <a:t>, N. (2020). “</a:t>
            </a:r>
            <a:r>
              <a:rPr lang="en-IN" sz="2200" i="1" dirty="0">
                <a:latin typeface="Times New Roman" panose="02020603050405020304" pitchFamily="18" charset="0"/>
                <a:cs typeface="Times New Roman" panose="02020603050405020304" pitchFamily="18" charset="0"/>
              </a:rPr>
              <a:t>Privacy-preserving compression model for efficient </a:t>
            </a:r>
            <a:r>
              <a:rPr lang="en-IN" sz="2200" i="1" dirty="0" err="1">
                <a:latin typeface="Times New Roman" panose="02020603050405020304" pitchFamily="18" charset="0"/>
                <a:cs typeface="Times New Roman" panose="02020603050405020304" pitchFamily="18" charset="0"/>
              </a:rPr>
              <a:t>IoMT</a:t>
            </a:r>
            <a:r>
              <a:rPr lang="en-IN" sz="2200" i="1" dirty="0">
                <a:latin typeface="Times New Roman" panose="02020603050405020304" pitchFamily="18" charset="0"/>
                <a:cs typeface="Times New Roman" panose="02020603050405020304" pitchFamily="18" charset="0"/>
              </a:rPr>
              <a:t> ECG </a:t>
            </a:r>
            <a:r>
              <a:rPr lang="en-IN" sz="2100" i="1" dirty="0">
                <a:latin typeface="Times New Roman" panose="02020603050405020304" pitchFamily="18" charset="0"/>
                <a:cs typeface="Times New Roman" panose="02020603050405020304" pitchFamily="18" charset="0"/>
              </a:rPr>
              <a:t>sharing</a:t>
            </a:r>
            <a:r>
              <a:rPr lang="en-IN" sz="2100" dirty="0">
                <a:latin typeface="Times New Roman" panose="02020603050405020304" pitchFamily="18" charset="0"/>
                <a:cs typeface="Times New Roman" panose="02020603050405020304" pitchFamily="18" charset="0"/>
              </a:rPr>
              <a:t>”. Computer Communications, 166, 1-8.</a:t>
            </a:r>
          </a:p>
          <a:p>
            <a:pPr>
              <a:buFont typeface="Wingdings" pitchFamily="2" charset="2"/>
              <a:buChar char="ü"/>
            </a:pPr>
            <a:r>
              <a:rPr lang="en-US" sz="2100" dirty="0">
                <a:latin typeface="Times New Roman" panose="02020603050405020304" pitchFamily="18" charset="0"/>
                <a:cs typeface="Times New Roman" panose="02020603050405020304" pitchFamily="18" charset="0"/>
              </a:rPr>
              <a:t>R. </a:t>
            </a:r>
            <a:r>
              <a:rPr lang="en-US" sz="2100" dirty="0" err="1">
                <a:latin typeface="Times New Roman" panose="02020603050405020304" pitchFamily="18" charset="0"/>
                <a:cs typeface="Times New Roman" panose="02020603050405020304" pitchFamily="18" charset="0"/>
              </a:rPr>
              <a:t>Benzid</a:t>
            </a:r>
            <a:r>
              <a:rPr lang="en-US" sz="2100" dirty="0">
                <a:latin typeface="Times New Roman" panose="02020603050405020304" pitchFamily="18" charset="0"/>
                <a:cs typeface="Times New Roman" panose="02020603050405020304" pitchFamily="18" charset="0"/>
              </a:rPr>
              <a:t>, A. </a:t>
            </a:r>
            <a:r>
              <a:rPr lang="en-US" sz="2100" dirty="0" err="1">
                <a:latin typeface="Times New Roman" panose="02020603050405020304" pitchFamily="18" charset="0"/>
                <a:cs typeface="Times New Roman" panose="02020603050405020304" pitchFamily="18" charset="0"/>
              </a:rPr>
              <a:t>Messaoudi</a:t>
            </a:r>
            <a:r>
              <a:rPr lang="en-US" sz="2100" dirty="0">
                <a:latin typeface="Times New Roman" panose="02020603050405020304" pitchFamily="18" charset="0"/>
                <a:cs typeface="Times New Roman" panose="02020603050405020304" pitchFamily="18" charset="0"/>
              </a:rPr>
              <a:t>, and A. </a:t>
            </a:r>
            <a:r>
              <a:rPr lang="en-US" sz="2100" dirty="0" err="1">
                <a:latin typeface="Times New Roman" panose="02020603050405020304" pitchFamily="18" charset="0"/>
                <a:cs typeface="Times New Roman" panose="02020603050405020304" pitchFamily="18" charset="0"/>
              </a:rPr>
              <a:t>Boussaad</a:t>
            </a:r>
            <a:r>
              <a:rPr lang="en-US" sz="2100" dirty="0">
                <a:latin typeface="Times New Roman" panose="02020603050405020304" pitchFamily="18" charset="0"/>
                <a:cs typeface="Times New Roman" panose="02020603050405020304" pitchFamily="18" charset="0"/>
              </a:rPr>
              <a:t>, “</a:t>
            </a:r>
            <a:r>
              <a:rPr lang="en-US" sz="2100" i="1" dirty="0">
                <a:latin typeface="Times New Roman" panose="02020603050405020304" pitchFamily="18" charset="0"/>
                <a:cs typeface="Times New Roman" panose="02020603050405020304" pitchFamily="18" charset="0"/>
              </a:rPr>
              <a:t>Constrained ECG compression algorithm using the block-based discrete cosine transform</a:t>
            </a:r>
            <a:r>
              <a:rPr lang="en-US" sz="2100" dirty="0">
                <a:latin typeface="Times New Roman" panose="02020603050405020304" pitchFamily="18" charset="0"/>
                <a:cs typeface="Times New Roman" panose="02020603050405020304" pitchFamily="18" charset="0"/>
              </a:rPr>
              <a:t>,” Digital Signal Processing, vol. 18, no. 1, pp. 56–64, January 2008.</a:t>
            </a:r>
          </a:p>
          <a:p>
            <a:pPr>
              <a:buFont typeface="Wingdings" pitchFamily="2" charset="2"/>
              <a:buChar char="ü"/>
            </a:pPr>
            <a:r>
              <a:rPr lang="en-US" sz="2100" dirty="0">
                <a:latin typeface="Times New Roman" panose="02020603050405020304" pitchFamily="18" charset="0"/>
                <a:cs typeface="Times New Roman" panose="02020603050405020304" pitchFamily="18" charset="0"/>
              </a:rPr>
              <a:t>Z. Lu, D. Y. Kim, and W. A. Pearlman, “</a:t>
            </a:r>
            <a:r>
              <a:rPr lang="en-US" sz="2100" i="1" dirty="0">
                <a:latin typeface="Times New Roman" panose="02020603050405020304" pitchFamily="18" charset="0"/>
                <a:cs typeface="Times New Roman" panose="02020603050405020304" pitchFamily="18" charset="0"/>
              </a:rPr>
              <a:t>Wavelet compression of ECG signals by the set partitioning in hierarchical trees algorithm</a:t>
            </a:r>
            <a:r>
              <a:rPr lang="en-US" sz="2100" dirty="0">
                <a:latin typeface="Times New Roman" panose="02020603050405020304" pitchFamily="18" charset="0"/>
                <a:cs typeface="Times New Roman" panose="02020603050405020304" pitchFamily="18" charset="0"/>
              </a:rPr>
              <a:t>,” IEEE Trans. on Biomedical Engineering, vol. 47, no. 7, pp. 849–856, July 2000.</a:t>
            </a:r>
          </a:p>
          <a:p>
            <a:pPr>
              <a:buFont typeface="Wingdings" pitchFamily="2" charset="2"/>
              <a:buChar char="ü"/>
            </a:pPr>
            <a:r>
              <a:rPr lang="en-US" sz="2100" dirty="0">
                <a:latin typeface="Times New Roman" panose="02020603050405020304" pitchFamily="18" charset="0"/>
                <a:cs typeface="Times New Roman" panose="02020603050405020304" pitchFamily="18" charset="0"/>
              </a:rPr>
              <a:t>A. Al-</a:t>
            </a:r>
            <a:r>
              <a:rPr lang="en-US" sz="2100" dirty="0" err="1">
                <a:latin typeface="Times New Roman" panose="02020603050405020304" pitchFamily="18" charset="0"/>
                <a:cs typeface="Times New Roman" panose="02020603050405020304" pitchFamily="18" charset="0"/>
              </a:rPr>
              <a:t>Shrouf</a:t>
            </a:r>
            <a:r>
              <a:rPr lang="en-US" sz="2100" dirty="0">
                <a:latin typeface="Times New Roman" panose="02020603050405020304" pitchFamily="18" charset="0"/>
                <a:cs typeface="Times New Roman" panose="02020603050405020304" pitchFamily="18" charset="0"/>
              </a:rPr>
              <a:t>, M. Abo-</a:t>
            </a:r>
            <a:r>
              <a:rPr lang="en-US" sz="2100" dirty="0" err="1">
                <a:latin typeface="Times New Roman" panose="02020603050405020304" pitchFamily="18" charset="0"/>
                <a:cs typeface="Times New Roman" panose="02020603050405020304" pitchFamily="18" charset="0"/>
              </a:rPr>
              <a:t>Zahhad</a:t>
            </a:r>
            <a:r>
              <a:rPr lang="en-US" sz="2100" dirty="0">
                <a:latin typeface="Times New Roman" panose="02020603050405020304" pitchFamily="18" charset="0"/>
                <a:cs typeface="Times New Roman" panose="02020603050405020304" pitchFamily="18" charset="0"/>
              </a:rPr>
              <a:t>, and S. M. Ahmed, “</a:t>
            </a:r>
            <a:r>
              <a:rPr lang="en-US" sz="2100" i="1" dirty="0">
                <a:latin typeface="Times New Roman" panose="02020603050405020304" pitchFamily="18" charset="0"/>
                <a:cs typeface="Times New Roman" panose="02020603050405020304" pitchFamily="18" charset="0"/>
              </a:rPr>
              <a:t>A novel compression algorithm for electrocardiogram signal based on the linear prediction of the wavelet coefficients</a:t>
            </a:r>
            <a:r>
              <a:rPr lang="en-US" sz="2100" dirty="0">
                <a:latin typeface="Times New Roman" panose="02020603050405020304" pitchFamily="18" charset="0"/>
                <a:cs typeface="Times New Roman" panose="02020603050405020304" pitchFamily="18" charset="0"/>
              </a:rPr>
              <a:t>,” Digital Signal Processing, vol. 13, pp. 604–622, October 2003.</a:t>
            </a:r>
          </a:p>
          <a:p>
            <a:pPr>
              <a:buFont typeface="Wingdings" pitchFamily="2" charset="2"/>
              <a:buChar char="ü"/>
            </a:pPr>
            <a:r>
              <a:rPr lang="en-US" sz="2100" dirty="0">
                <a:latin typeface="Times New Roman" panose="02020603050405020304" pitchFamily="18" charset="0"/>
                <a:cs typeface="Times New Roman" panose="02020603050405020304" pitchFamily="18" charset="0"/>
              </a:rPr>
              <a:t>I. M. Rezazadeh. M. </a:t>
            </a:r>
            <a:r>
              <a:rPr lang="en-US" sz="2100" dirty="0" err="1">
                <a:latin typeface="Times New Roman" panose="02020603050405020304" pitchFamily="18" charset="0"/>
                <a:cs typeface="Times New Roman" panose="02020603050405020304" pitchFamily="18" charset="0"/>
              </a:rPr>
              <a:t>H.Moradi</a:t>
            </a:r>
            <a:r>
              <a:rPr lang="en-US" sz="2100" dirty="0">
                <a:latin typeface="Times New Roman" panose="02020603050405020304" pitchFamily="18" charset="0"/>
                <a:cs typeface="Times New Roman" panose="02020603050405020304" pitchFamily="18" charset="0"/>
              </a:rPr>
              <a:t>, AM. </a:t>
            </a:r>
            <a:r>
              <a:rPr lang="en-US" sz="2100" dirty="0" err="1">
                <a:latin typeface="Times New Roman" panose="02020603050405020304" pitchFamily="18" charset="0"/>
                <a:cs typeface="Times New Roman" panose="02020603050405020304" pitchFamily="18" charset="0"/>
              </a:rPr>
              <a:t>Nasrabadi</a:t>
            </a:r>
            <a:r>
              <a:rPr lang="en-US" sz="2100" dirty="0">
                <a:latin typeface="Times New Roman" panose="02020603050405020304" pitchFamily="18" charset="0"/>
                <a:cs typeface="Times New Roman" panose="02020603050405020304" pitchFamily="18" charset="0"/>
              </a:rPr>
              <a:t>, " </a:t>
            </a:r>
            <a:r>
              <a:rPr lang="en-US" sz="2100" i="1" dirty="0">
                <a:latin typeface="Times New Roman" panose="02020603050405020304" pitchFamily="18" charset="0"/>
                <a:cs typeface="Times New Roman" panose="02020603050405020304" pitchFamily="18" charset="0"/>
              </a:rPr>
              <a:t>Implementing of SPIRT and </a:t>
            </a:r>
            <a:r>
              <a:rPr lang="en-US" sz="2100" i="1" dirty="0" err="1">
                <a:latin typeface="Times New Roman" panose="02020603050405020304" pitchFamily="18" charset="0"/>
                <a:cs typeface="Times New Roman" panose="02020603050405020304" pitchFamily="18" charset="0"/>
              </a:rPr>
              <a:t>subband</a:t>
            </a:r>
            <a:r>
              <a:rPr lang="en-US" sz="2100" i="1" dirty="0">
                <a:latin typeface="Times New Roman" panose="02020603050405020304" pitchFamily="18" charset="0"/>
                <a:cs typeface="Times New Roman" panose="02020603050405020304" pitchFamily="18" charset="0"/>
              </a:rPr>
              <a:t> Energy Compression (SEC) Method on Two Dimensional ECG Compression</a:t>
            </a:r>
            <a:r>
              <a:rPr lang="en-US" sz="2100" dirty="0">
                <a:latin typeface="Times New Roman" panose="02020603050405020304" pitchFamily="18" charset="0"/>
                <a:cs typeface="Times New Roman" panose="02020603050405020304" pitchFamily="18" charset="0"/>
              </a:rPr>
              <a:t>: A Novel Approach. Engineering in medicine and biology, 27"'annual conference, IEEE, China, 2005.</a:t>
            </a:r>
          </a:p>
          <a:p>
            <a:pPr>
              <a:buFont typeface="Wingdings" pitchFamily="2" charset="2"/>
              <a:buChar char="ü"/>
            </a:pPr>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E6896A4-ACD2-1176-A2DB-C2E7EEB6951D}"/>
              </a:ext>
            </a:extLst>
          </p:cNvPr>
          <p:cNvSpPr>
            <a:spLocks noGrp="1"/>
          </p:cNvSpPr>
          <p:nvPr>
            <p:ph type="sldNum" sz="quarter" idx="12"/>
          </p:nvPr>
        </p:nvSpPr>
        <p:spPr/>
        <p:txBody>
          <a:bodyPr/>
          <a:lstStyle/>
          <a:p>
            <a:fld id="{6056E8CA-A20A-4514-AD88-EC1BA30A10F7}" type="slidenum">
              <a:rPr lang="en-IN" smtClean="0"/>
              <a:t>11</a:t>
            </a:fld>
            <a:endParaRPr lang="en-IN"/>
          </a:p>
        </p:txBody>
      </p:sp>
    </p:spTree>
    <p:extLst>
      <p:ext uri="{BB962C8B-B14F-4D97-AF65-F5344CB8AC3E}">
        <p14:creationId xmlns:p14="http://schemas.microsoft.com/office/powerpoint/2010/main" val="23759481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txDef>
      <a:spPr>
        <a:noFill/>
      </a:spPr>
      <a:bodyPr wrap="square">
        <a:spAutoFit/>
      </a:bodyPr>
      <a:lstStyle>
        <a:defPPr algn="l">
          <a:defRPr sz="2000" b="1" dirty="0">
            <a:solidFill>
              <a:srgbClr val="7030A0"/>
            </a:solidFill>
            <a:latin typeface="Times New Roman" pitchFamily="18" charset="0"/>
            <a:cs typeface="Times New Roman" pitchFamily="18" charset="0"/>
          </a:defRPr>
        </a:defPPr>
      </a:lstStyle>
    </a:txDef>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338</TotalTime>
  <Words>1509</Words>
  <Application>Microsoft Office PowerPoint</Application>
  <PresentationFormat>Widescreen</PresentationFormat>
  <Paragraphs>128</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Celestial</vt:lpstr>
      <vt:lpstr>  VLSI BASED LOSSLESS ECG COMPRESSION FOR LOW POWER DEVICES</vt:lpstr>
      <vt:lpstr>ABSTRACT</vt:lpstr>
      <vt:lpstr>PowerPoint Presentation</vt:lpstr>
      <vt:lpstr>PowerPoint Presentation</vt:lpstr>
      <vt:lpstr>Literature Review </vt:lpstr>
      <vt:lpstr>PowerPoint Presentation</vt:lpstr>
      <vt:lpstr>Exiting Methodology</vt:lpstr>
      <vt:lpstr>EXISTING SYSTEM</vt:lpstr>
      <vt:lpstr>ECG Data Acquisition Method</vt:lpstr>
      <vt:lpstr>workplan                                    </vt:lpstr>
      <vt:lpstr>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Electro-CardioGram (ECG)  Data Compression for Cardiovascular diseases</dc:title>
  <dc:creator>Senthil Kumar</dc:creator>
  <cp:lastModifiedBy>sri sasi</cp:lastModifiedBy>
  <cp:revision>27</cp:revision>
  <dcterms:created xsi:type="dcterms:W3CDTF">2023-09-06T14:08:19Z</dcterms:created>
  <dcterms:modified xsi:type="dcterms:W3CDTF">2023-10-23T17:14:46Z</dcterms:modified>
</cp:coreProperties>
</file>