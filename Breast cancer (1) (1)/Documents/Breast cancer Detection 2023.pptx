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2"/>
  </p:notesMasterIdLst>
  <p:sldIdLst>
    <p:sldId id="256" r:id="rId2"/>
    <p:sldId id="320" r:id="rId3"/>
    <p:sldId id="258" r:id="rId4"/>
    <p:sldId id="322" r:id="rId5"/>
    <p:sldId id="319" r:id="rId6"/>
    <p:sldId id="316" r:id="rId7"/>
    <p:sldId id="300" r:id="rId8"/>
    <p:sldId id="301" r:id="rId9"/>
    <p:sldId id="315" r:id="rId10"/>
    <p:sldId id="321" r:id="rId11"/>
    <p:sldId id="306" r:id="rId12"/>
    <p:sldId id="305" r:id="rId13"/>
    <p:sldId id="323" r:id="rId14"/>
    <p:sldId id="324" r:id="rId15"/>
    <p:sldId id="326" r:id="rId16"/>
    <p:sldId id="327" r:id="rId17"/>
    <p:sldId id="328" r:id="rId18"/>
    <p:sldId id="329" r:id="rId19"/>
    <p:sldId id="289" r:id="rId20"/>
    <p:sldId id="308" r:id="rId21"/>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40" autoAdjust="0"/>
  </p:normalViewPr>
  <p:slideViewPr>
    <p:cSldViewPr>
      <p:cViewPr varScale="1">
        <p:scale>
          <a:sx n="83" d="100"/>
          <a:sy n="83" d="100"/>
        </p:scale>
        <p:origin x="1454" y="67"/>
      </p:cViewPr>
      <p:guideLst>
        <p:guide orient="horz" pos="2160"/>
        <p:guide pos="2880"/>
      </p:guideLst>
    </p:cSldViewPr>
  </p:slideViewPr>
  <p:outlineViewPr>
    <p:cViewPr>
      <p:scale>
        <a:sx n="33" d="100"/>
        <a:sy n="33" d="100"/>
      </p:scale>
      <p:origin x="0" y="228"/>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5AB031-A27D-438A-8A50-55770D8840DD}" type="datetimeFigureOut">
              <a:rPr lang="en-US" smtClean="0"/>
              <a:pPr/>
              <a:t>10/31/2023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F45E513-2DDD-4E29-9704-5CB2CF6F35C2}" type="slidenum">
              <a:rPr lang="en-US" smtClean="0"/>
              <a:pPr/>
              <a:t>‹#›</a:t>
            </a:fld>
            <a:endParaRPr lang="en-US" dirty="0"/>
          </a:p>
        </p:txBody>
      </p:sp>
    </p:spTree>
    <p:extLst>
      <p:ext uri="{BB962C8B-B14F-4D97-AF65-F5344CB8AC3E}">
        <p14:creationId xmlns:p14="http://schemas.microsoft.com/office/powerpoint/2010/main" val="1504743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F45E513-2DDD-4E29-9704-5CB2CF6F35C2}" type="slidenum">
              <a:rPr lang="en-US" smtClean="0"/>
              <a:pPr/>
              <a:t>1</a:t>
            </a:fld>
            <a:endParaRPr lang="en-US"/>
          </a:p>
        </p:txBody>
      </p:sp>
    </p:spTree>
    <p:extLst>
      <p:ext uri="{BB962C8B-B14F-4D97-AF65-F5344CB8AC3E}">
        <p14:creationId xmlns:p14="http://schemas.microsoft.com/office/powerpoint/2010/main" val="1856482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3C263386-4576-42BB-B694-88DBE12EB33B}" type="slidenum">
              <a:rPr lang="en-US" smtClean="0"/>
              <a:pPr/>
              <a:t>10</a:t>
            </a:fld>
            <a:endParaRPr lang="en-US"/>
          </a:p>
        </p:txBody>
      </p:sp>
      <p:sp>
        <p:nvSpPr>
          <p:cNvPr id="5" name="Date Placeholder 4"/>
          <p:cNvSpPr>
            <a:spLocks noGrp="1"/>
          </p:cNvSpPr>
          <p:nvPr>
            <p:ph type="dt" idx="11"/>
          </p:nvPr>
        </p:nvSpPr>
        <p:spPr/>
        <p:txBody>
          <a:bodyPr/>
          <a:lstStyle/>
          <a:p>
            <a:r>
              <a:rPr lang="en-US"/>
              <a:t>9/17/2013</a:t>
            </a:r>
          </a:p>
        </p:txBody>
      </p:sp>
    </p:spTree>
    <p:extLst>
      <p:ext uri="{BB962C8B-B14F-4D97-AF65-F5344CB8AC3E}">
        <p14:creationId xmlns:p14="http://schemas.microsoft.com/office/powerpoint/2010/main" val="3349736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F45E513-2DDD-4E29-9704-5CB2CF6F35C2}" type="slidenum">
              <a:rPr lang="en-US" smtClean="0"/>
              <a:pPr/>
              <a:t>20</a:t>
            </a:fld>
            <a:endParaRPr lang="en-US" dirty="0"/>
          </a:p>
        </p:txBody>
      </p:sp>
    </p:spTree>
    <p:extLst>
      <p:ext uri="{BB962C8B-B14F-4D97-AF65-F5344CB8AC3E}">
        <p14:creationId xmlns:p14="http://schemas.microsoft.com/office/powerpoint/2010/main" val="17805219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endParaRPr lang="en-GB"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GB"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66C23D9-A02C-4D0F-8799-53F89B461C06}"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CC4E8A91-A760-4F29-B5AC-5A2B57DB03ED}" type="slidenum">
              <a:rPr lang="en-GB" smtClean="0"/>
              <a:pPr/>
              <a:t>‹#›</a:t>
            </a:fld>
            <a:endParaRPr lang="en-GB" dirty="0"/>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793F7928-F9C8-413E-B2F8-0491950A98A7}" type="slidenum">
              <a:rPr lang="en-GB" smtClean="0"/>
              <a:pPr/>
              <a:t>‹#›</a:t>
            </a:fld>
            <a:endParaRPr lang="en-GB" dirty="0"/>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endParaRPr lang="en-GB" dirty="0"/>
          </a:p>
        </p:txBody>
      </p:sp>
      <p:sp>
        <p:nvSpPr>
          <p:cNvPr id="6" name="Footer Placeholder 5"/>
          <p:cNvSpPr>
            <a:spLocks noGrp="1"/>
          </p:cNvSpPr>
          <p:nvPr>
            <p:ph type="ftr" sz="quarter" idx="11"/>
          </p:nvPr>
        </p:nvSpPr>
        <p:spPr/>
        <p:txBody>
          <a:bodyPr/>
          <a:lstStyle>
            <a:extLst/>
          </a:lstStyle>
          <a:p>
            <a:endParaRPr lang="en-GB" dirty="0"/>
          </a:p>
        </p:txBody>
      </p:sp>
      <p:sp>
        <p:nvSpPr>
          <p:cNvPr id="7" name="Slide Number Placeholder 6"/>
          <p:cNvSpPr>
            <a:spLocks noGrp="1"/>
          </p:cNvSpPr>
          <p:nvPr>
            <p:ph type="sldNum" sz="quarter" idx="12"/>
          </p:nvPr>
        </p:nvSpPr>
        <p:spPr/>
        <p:txBody>
          <a:bodyPr/>
          <a:lstStyle>
            <a:extLst/>
          </a:lstStyle>
          <a:p>
            <a:fld id="{EAC18D1B-5E0C-43D4-A288-000C353C71FA}" type="slidenum">
              <a:rPr lang="en-GB" smtClean="0"/>
              <a:pPr/>
              <a:t>‹#›</a:t>
            </a:fld>
            <a:endParaRPr lang="en-GB" dirty="0"/>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endParaRPr lang="en-GB" dirty="0"/>
          </a:p>
        </p:txBody>
      </p:sp>
      <p:sp>
        <p:nvSpPr>
          <p:cNvPr id="8" name="Footer Placeholder 7"/>
          <p:cNvSpPr>
            <a:spLocks noGrp="1"/>
          </p:cNvSpPr>
          <p:nvPr>
            <p:ph type="ftr" sz="quarter" idx="11"/>
          </p:nvPr>
        </p:nvSpPr>
        <p:spPr/>
        <p:txBody>
          <a:bodyPr/>
          <a:lstStyle>
            <a:extLst/>
          </a:lstStyle>
          <a:p>
            <a:endParaRPr lang="en-GB" dirty="0"/>
          </a:p>
        </p:txBody>
      </p:sp>
      <p:sp>
        <p:nvSpPr>
          <p:cNvPr id="9" name="Slide Number Placeholder 8"/>
          <p:cNvSpPr>
            <a:spLocks noGrp="1"/>
          </p:cNvSpPr>
          <p:nvPr>
            <p:ph type="sldNum" sz="quarter" idx="12"/>
          </p:nvPr>
        </p:nvSpPr>
        <p:spPr/>
        <p:txBody>
          <a:bodyPr/>
          <a:lstStyle>
            <a:extLst/>
          </a:lstStyle>
          <a:p>
            <a:fld id="{C9466077-B3B4-4B1B-8D20-947170AE6071}" type="slidenum">
              <a:rPr lang="en-GB" smtClean="0"/>
              <a:pPr/>
              <a:t>‹#›</a:t>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endParaRPr lang="en-GB" dirty="0"/>
          </a:p>
        </p:txBody>
      </p:sp>
      <p:sp>
        <p:nvSpPr>
          <p:cNvPr id="4" name="Footer Placeholder 3"/>
          <p:cNvSpPr>
            <a:spLocks noGrp="1"/>
          </p:cNvSpPr>
          <p:nvPr>
            <p:ph type="ftr" sz="quarter" idx="11"/>
          </p:nvPr>
        </p:nvSpPr>
        <p:spPr/>
        <p:txBody>
          <a:bodyPr/>
          <a:lstStyle>
            <a:extLst/>
          </a:lstStyle>
          <a:p>
            <a:endParaRPr lang="en-GB" dirty="0"/>
          </a:p>
        </p:txBody>
      </p:sp>
      <p:sp>
        <p:nvSpPr>
          <p:cNvPr id="5" name="Slide Number Placeholder 4"/>
          <p:cNvSpPr>
            <a:spLocks noGrp="1"/>
          </p:cNvSpPr>
          <p:nvPr>
            <p:ph type="sldNum" sz="quarter" idx="12"/>
          </p:nvPr>
        </p:nvSpPr>
        <p:spPr/>
        <p:txBody>
          <a:bodyPr/>
          <a:lstStyle>
            <a:extLst/>
          </a:lstStyle>
          <a:p>
            <a:fld id="{ADE89588-7E53-44C4-85C5-E19F0C9652E5}" type="slidenum">
              <a:rPr lang="en-GB" smtClean="0"/>
              <a:pPr/>
              <a:t>‹#›</a:t>
            </a:fld>
            <a:endParaRPr lang="en-GB" dirty="0"/>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endParaRPr lang="en-GB" dirty="0"/>
          </a:p>
        </p:txBody>
      </p:sp>
      <p:sp>
        <p:nvSpPr>
          <p:cNvPr id="3" name="Footer Placeholder 2"/>
          <p:cNvSpPr>
            <a:spLocks noGrp="1"/>
          </p:cNvSpPr>
          <p:nvPr>
            <p:ph type="ftr" sz="quarter" idx="11"/>
          </p:nvPr>
        </p:nvSpPr>
        <p:spPr/>
        <p:txBody>
          <a:bodyPr/>
          <a:lstStyle>
            <a:extLst/>
          </a:lstStyle>
          <a:p>
            <a:endParaRPr lang="en-GB" dirty="0"/>
          </a:p>
        </p:txBody>
      </p:sp>
      <p:sp>
        <p:nvSpPr>
          <p:cNvPr id="4" name="Slide Number Placeholder 3"/>
          <p:cNvSpPr>
            <a:spLocks noGrp="1"/>
          </p:cNvSpPr>
          <p:nvPr>
            <p:ph type="sldNum" sz="quarter" idx="12"/>
          </p:nvPr>
        </p:nvSpPr>
        <p:spPr/>
        <p:txBody>
          <a:bodyPr/>
          <a:lstStyle>
            <a:extLst/>
          </a:lstStyle>
          <a:p>
            <a:fld id="{9386413B-2308-456F-BD59-EA9865BC8852}"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endParaRPr lang="en-GB" dirty="0"/>
          </a:p>
        </p:txBody>
      </p:sp>
      <p:sp>
        <p:nvSpPr>
          <p:cNvPr id="6" name="Footer Placeholder 5"/>
          <p:cNvSpPr>
            <a:spLocks noGrp="1"/>
          </p:cNvSpPr>
          <p:nvPr>
            <p:ph type="ftr" sz="quarter" idx="11"/>
          </p:nvPr>
        </p:nvSpPr>
        <p:spPr/>
        <p:txBody>
          <a:bodyPr/>
          <a:lstStyle>
            <a:extLst/>
          </a:lstStyle>
          <a:p>
            <a:endParaRPr lang="en-GB" dirty="0"/>
          </a:p>
        </p:txBody>
      </p:sp>
      <p:sp>
        <p:nvSpPr>
          <p:cNvPr id="7" name="Slide Number Placeholder 6"/>
          <p:cNvSpPr>
            <a:spLocks noGrp="1"/>
          </p:cNvSpPr>
          <p:nvPr>
            <p:ph type="sldNum" sz="quarter" idx="12"/>
          </p:nvPr>
        </p:nvSpPr>
        <p:spPr/>
        <p:txBody>
          <a:bodyPr/>
          <a:lstStyle>
            <a:extLst/>
          </a:lstStyle>
          <a:p>
            <a:fld id="{82C0D707-AF52-4ECB-A41C-C1D4CF6BFC78}" type="slidenum">
              <a:rPr lang="en-GB" smtClean="0"/>
              <a:pPr/>
              <a:t>‹#›</a:t>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endParaRPr lang="en-GB" dirty="0"/>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GB"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E066802F-4AA6-4379-98CC-E7E9340CD710}" type="slidenum">
              <a:rPr lang="en-GB" smtClean="0"/>
              <a:pPr/>
              <a:t>‹#›</a:t>
            </a:fld>
            <a:endParaRPr lang="en-GB"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CADCE554-8EE6-4EB9-8061-427A242E3B81}"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endParaRPr lang="en-GB" dirty="0"/>
          </a:p>
        </p:txBody>
      </p:sp>
      <p:sp>
        <p:nvSpPr>
          <p:cNvPr id="5" name="Footer Placeholder 4"/>
          <p:cNvSpPr>
            <a:spLocks noGrp="1"/>
          </p:cNvSpPr>
          <p:nvPr>
            <p:ph type="ftr" sz="quarter" idx="11"/>
          </p:nvPr>
        </p:nvSpPr>
        <p:spPr/>
        <p:txBody>
          <a:bodyPr/>
          <a:lstStyle>
            <a:extLst/>
          </a:lstStyle>
          <a:p>
            <a:endParaRPr lang="en-GB" dirty="0"/>
          </a:p>
        </p:txBody>
      </p:sp>
      <p:sp>
        <p:nvSpPr>
          <p:cNvPr id="6" name="Slide Number Placeholder 5"/>
          <p:cNvSpPr>
            <a:spLocks noGrp="1"/>
          </p:cNvSpPr>
          <p:nvPr>
            <p:ph type="sldNum" sz="quarter" idx="12"/>
          </p:nvPr>
        </p:nvSpPr>
        <p:spPr/>
        <p:txBody>
          <a:bodyPr/>
          <a:lstStyle>
            <a:extLst/>
          </a:lstStyle>
          <a:p>
            <a:fld id="{89419B2F-EC4F-44C8-BA15-C2D028F00C47}" type="slidenum">
              <a:rPr lang="en-GB" smtClean="0"/>
              <a:pPr/>
              <a:t>‹#›</a:t>
            </a:fld>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endParaRPr lang="en-GB" dirty="0"/>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GB" dirty="0"/>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87953CDB-A455-42CC-A8CF-E0FE099858F2}"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ctrTitle"/>
          </p:nvPr>
        </p:nvSpPr>
        <p:spPr>
          <a:xfrm>
            <a:off x="642910" y="1285860"/>
            <a:ext cx="8321578" cy="2647196"/>
          </a:xfrm>
        </p:spPr>
        <p:txBody>
          <a:bodyPr>
            <a:normAutofit/>
          </a:bodyPr>
          <a:lstStyle/>
          <a:p>
            <a:pPr algn="ctr"/>
            <a:r>
              <a:rPr lang="en-US" sz="4000" dirty="0" smtClean="0">
                <a:ln w="11430"/>
                <a:latin typeface="Algerian" pitchFamily="82" charset="0"/>
                <a:cs typeface="Times New Roman" pitchFamily="18" charset="0"/>
              </a:rPr>
              <a:t>Novel Method for breast Cancer </a:t>
            </a:r>
            <a:br>
              <a:rPr lang="en-US" sz="4000" dirty="0" smtClean="0">
                <a:ln w="11430"/>
                <a:latin typeface="Algerian" pitchFamily="82" charset="0"/>
                <a:cs typeface="Times New Roman" pitchFamily="18" charset="0"/>
              </a:rPr>
            </a:br>
            <a:r>
              <a:rPr lang="en-US" sz="4000" dirty="0" smtClean="0">
                <a:ln w="11430"/>
                <a:latin typeface="Algerian" pitchFamily="82" charset="0"/>
                <a:cs typeface="Times New Roman" pitchFamily="18" charset="0"/>
              </a:rPr>
              <a:t>DETECTION USING Super Pixel </a:t>
            </a:r>
            <a:r>
              <a:rPr lang="en-US" sz="4000" dirty="0">
                <a:ln w="11430"/>
                <a:latin typeface="Algerian" pitchFamily="82" charset="0"/>
                <a:cs typeface="Times New Roman" pitchFamily="18" charset="0"/>
              </a:rPr>
              <a:t>and </a:t>
            </a:r>
            <a:r>
              <a:rPr lang="en-US" sz="4000" dirty="0" smtClean="0">
                <a:ln w="11430"/>
                <a:latin typeface="Algerian" pitchFamily="82" charset="0"/>
                <a:cs typeface="Times New Roman" pitchFamily="18" charset="0"/>
              </a:rPr>
              <a:t>LSTM_CNN Algorithm </a:t>
            </a:r>
            <a:endParaRPr lang="en-US" sz="4000" dirty="0">
              <a:latin typeface="Algerian" pitchFamily="82"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this </a:t>
            </a:r>
            <a:r>
              <a:rPr lang="en-US" dirty="0" smtClean="0">
                <a:latin typeface="Times New Roman" panose="02020603050405020304" pitchFamily="18" charset="0"/>
                <a:cs typeface="Times New Roman" panose="02020603050405020304" pitchFamily="18" charset="0"/>
              </a:rPr>
              <a:t>project, </a:t>
            </a:r>
            <a:r>
              <a:rPr lang="en-US" dirty="0">
                <a:latin typeface="Times New Roman" panose="02020603050405020304" pitchFamily="18" charset="0"/>
                <a:cs typeface="Times New Roman" panose="02020603050405020304" pitchFamily="18" charset="0"/>
              </a:rPr>
              <a:t>we propose an automatic 3D segmentation method for </a:t>
            </a:r>
            <a:r>
              <a:rPr lang="en-US" dirty="0" err="1">
                <a:latin typeface="Times New Roman" panose="02020603050405020304" pitchFamily="18" charset="0"/>
                <a:cs typeface="Times New Roman" panose="02020603050405020304" pitchFamily="18" charset="0"/>
              </a:rPr>
              <a:t>transrectal</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ultrasound breast </a:t>
            </a:r>
            <a:r>
              <a:rPr lang="en-US" dirty="0">
                <a:latin typeface="Times New Roman" panose="02020603050405020304" pitchFamily="18" charset="0"/>
                <a:cs typeface="Times New Roman" panose="02020603050405020304" pitchFamily="18" charset="0"/>
              </a:rPr>
              <a:t>images, which is based on multi-atlas registration and statistical texture prior</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atlas database includes registered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images from previous patients and their segmented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surfaces</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Three orthogonal Gabor filter banks are used to extract texture features from each image in the database. </a:t>
            </a: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Stage-specific Tumor </a:t>
            </a:r>
            <a:r>
              <a:rPr lang="en-US" dirty="0">
                <a:latin typeface="Times New Roman" panose="02020603050405020304" pitchFamily="18" charset="0"/>
                <a:cs typeface="Times New Roman" panose="02020603050405020304" pitchFamily="18" charset="0"/>
              </a:rPr>
              <a:t>features from the </a:t>
            </a:r>
            <a:r>
              <a:rPr lang="en-US" dirty="0" smtClean="0">
                <a:latin typeface="Times New Roman" panose="02020603050405020304" pitchFamily="18" charset="0"/>
                <a:cs typeface="Times New Roman" panose="02020603050405020304" pitchFamily="18" charset="0"/>
              </a:rPr>
              <a:t>datasets </a:t>
            </a:r>
            <a:r>
              <a:rPr lang="en-US" dirty="0">
                <a:latin typeface="Times New Roman" panose="02020603050405020304" pitchFamily="18" charset="0"/>
                <a:cs typeface="Times New Roman" panose="02020603050405020304" pitchFamily="18" charset="0"/>
              </a:rPr>
              <a:t>are used to train </a:t>
            </a:r>
            <a:r>
              <a:rPr lang="en-US" dirty="0" smtClean="0">
                <a:latin typeface="Times New Roman" panose="02020603050405020304" pitchFamily="18" charset="0"/>
                <a:cs typeface="Times New Roman" panose="02020603050405020304" pitchFamily="18" charset="0"/>
              </a:rPr>
              <a:t>(</a:t>
            </a:r>
            <a:r>
              <a:rPr lang="en-US" b="1" dirty="0" smtClean="0"/>
              <a:t>CNN-LSTM</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then to </a:t>
            </a:r>
            <a:r>
              <a:rPr lang="en-US" dirty="0" smtClean="0">
                <a:latin typeface="Times New Roman" panose="02020603050405020304" pitchFamily="18" charset="0"/>
                <a:cs typeface="Times New Roman" panose="02020603050405020304" pitchFamily="18" charset="0"/>
              </a:rPr>
              <a:t>segment Using Super Pixel Segmentation </a:t>
            </a:r>
            <a:r>
              <a:rPr lang="en-US" dirty="0">
                <a:latin typeface="Times New Roman" panose="02020603050405020304" pitchFamily="18" charset="0"/>
                <a:cs typeface="Times New Roman" panose="02020603050405020304" pitchFamily="18" charset="0"/>
              </a:rPr>
              <a:t>the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image from a new patient. </a:t>
            </a:r>
          </a:p>
        </p:txBody>
      </p:sp>
      <p:sp>
        <p:nvSpPr>
          <p:cNvPr id="3" name="Title 2"/>
          <p:cNvSpPr>
            <a:spLocks noGrp="1"/>
          </p:cNvSpPr>
          <p:nvPr>
            <p:ph type="title"/>
          </p:nvPr>
        </p:nvSpPr>
        <p:spPr/>
        <p:txBody>
          <a:bodyPr/>
          <a:lstStyle/>
          <a:p>
            <a:r>
              <a:rPr lang="en-US" dirty="0" smtClean="0"/>
              <a:t>ABSTRACT</a:t>
            </a:r>
            <a:endParaRPr lang="en-US" dirty="0"/>
          </a:p>
        </p:txBody>
      </p:sp>
    </p:spTree>
    <p:extLst>
      <p:ext uri="{BB962C8B-B14F-4D97-AF65-F5344CB8AC3E}">
        <p14:creationId xmlns:p14="http://schemas.microsoft.com/office/powerpoint/2010/main" val="83853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6" y="1484784"/>
            <a:ext cx="7620000" cy="4525963"/>
          </a:xfrm>
        </p:spPr>
        <p:txBody>
          <a:bodyPr>
            <a:normAutofit fontScale="92500" lnSpcReduction="20000"/>
          </a:bodyPr>
          <a:lstStyle/>
          <a:p>
            <a:pPr algn="just"/>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cancer affects one in six </a:t>
            </a:r>
            <a:r>
              <a:rPr lang="en-US" dirty="0" smtClean="0">
                <a:latin typeface="Times New Roman" panose="02020603050405020304" pitchFamily="18" charset="0"/>
                <a:cs typeface="Times New Roman" panose="02020603050405020304" pitchFamily="18" charset="0"/>
              </a:rPr>
              <a:t>women. </a:t>
            </a:r>
            <a:r>
              <a:rPr lang="en-US" dirty="0">
                <a:latin typeface="Times New Roman" panose="02020603050405020304" pitchFamily="18" charset="0"/>
                <a:cs typeface="Times New Roman" panose="02020603050405020304" pitchFamily="18" charset="0"/>
              </a:rPr>
              <a:t>Systematic </a:t>
            </a:r>
            <a:r>
              <a:rPr lang="en-US" dirty="0" err="1">
                <a:latin typeface="Times New Roman" panose="02020603050405020304" pitchFamily="18" charset="0"/>
                <a:cs typeface="Times New Roman" panose="02020603050405020304" pitchFamily="18" charset="0"/>
              </a:rPr>
              <a:t>transrectal</a:t>
            </a:r>
            <a:r>
              <a:rPr lang="en-US" dirty="0">
                <a:latin typeface="Times New Roman" panose="02020603050405020304" pitchFamily="18" charset="0"/>
                <a:cs typeface="Times New Roman" panose="02020603050405020304" pitchFamily="18" charset="0"/>
              </a:rPr>
              <a:t> ultrasound </a:t>
            </a:r>
            <a:r>
              <a:rPr lang="en-US" dirty="0" smtClean="0">
                <a:latin typeface="Times New Roman" panose="02020603050405020304" pitchFamily="18" charset="0"/>
                <a:cs typeface="Times New Roman" panose="02020603050405020304" pitchFamily="18" charset="0"/>
              </a:rPr>
              <a:t>(breast)-</a:t>
            </a:r>
            <a:r>
              <a:rPr lang="en-US" dirty="0">
                <a:latin typeface="Times New Roman" panose="02020603050405020304" pitchFamily="18" charset="0"/>
                <a:cs typeface="Times New Roman" panose="02020603050405020304" pitchFamily="18" charset="0"/>
              </a:rPr>
              <a:t>guided biopsy is considered as the standard method for definitive diagnosis of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cancer.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However</a:t>
            </a:r>
            <a:r>
              <a:rPr lang="en-US" dirty="0">
                <a:latin typeface="Times New Roman" panose="02020603050405020304" pitchFamily="18" charset="0"/>
                <a:cs typeface="Times New Roman" panose="02020603050405020304" pitchFamily="18" charset="0"/>
              </a:rPr>
              <a:t>, the current biopsy technique has a significant sampling error and can miss up to 30% of cancers.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We </a:t>
            </a:r>
            <a:r>
              <a:rPr lang="en-US" dirty="0">
                <a:latin typeface="Times New Roman" panose="02020603050405020304" pitchFamily="18" charset="0"/>
                <a:cs typeface="Times New Roman" panose="02020603050405020304" pitchFamily="18" charset="0"/>
              </a:rPr>
              <a:t>are developing a molecular image-directed, 3D ultrasound-guided biopsy system with the aim of improving cancer detection rate.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Accurate </a:t>
            </a:r>
            <a:r>
              <a:rPr lang="en-US" dirty="0">
                <a:latin typeface="Times New Roman" panose="02020603050405020304" pitchFamily="18" charset="0"/>
                <a:cs typeface="Times New Roman" panose="02020603050405020304" pitchFamily="18" charset="0"/>
              </a:rPr>
              <a:t>segmentation of the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plays a key role in biopsy needle </a:t>
            </a:r>
            <a:r>
              <a:rPr lang="en-US" dirty="0" smtClean="0">
                <a:latin typeface="Times New Roman" panose="02020603050405020304" pitchFamily="18" charset="0"/>
                <a:cs typeface="Times New Roman" panose="02020603050405020304" pitchFamily="18" charset="0"/>
              </a:rPr>
              <a:t>placement, </a:t>
            </a:r>
            <a:r>
              <a:rPr lang="en-US" dirty="0">
                <a:latin typeface="Times New Roman" panose="02020603050405020304" pitchFamily="18" charset="0"/>
                <a:cs typeface="Times New Roman" panose="02020603050405020304" pitchFamily="18" charset="0"/>
              </a:rPr>
              <a:t>treatment </a:t>
            </a:r>
            <a:r>
              <a:rPr lang="en-US" dirty="0" smtClean="0">
                <a:latin typeface="Times New Roman" panose="02020603050405020304" pitchFamily="18" charset="0"/>
                <a:cs typeface="Times New Roman" panose="02020603050405020304" pitchFamily="18" charset="0"/>
              </a:rPr>
              <a:t>planning, </a:t>
            </a:r>
            <a:r>
              <a:rPr lang="en-US" dirty="0">
                <a:latin typeface="Times New Roman" panose="02020603050405020304" pitchFamily="18" charset="0"/>
                <a:cs typeface="Times New Roman" panose="02020603050405020304" pitchFamily="18" charset="0"/>
              </a:rPr>
              <a:t>and motion </a:t>
            </a:r>
            <a:r>
              <a:rPr lang="en-US" dirty="0" smtClean="0">
                <a:latin typeface="Times New Roman" panose="02020603050405020304" pitchFamily="18" charset="0"/>
                <a:cs typeface="Times New Roman" panose="02020603050405020304" pitchFamily="18" charset="0"/>
              </a:rPr>
              <a:t>monitoring. </a:t>
            </a:r>
            <a:endParaRPr lang="en-GB" dirty="0">
              <a:latin typeface="Times New Roman" panose="02020603050405020304" pitchFamily="18" charset="0"/>
              <a:cs typeface="Times New Roman" panose="02020603050405020304" pitchFamily="18" charset="0"/>
            </a:endParaRPr>
          </a:p>
        </p:txBody>
      </p:sp>
      <p:sp>
        <p:nvSpPr>
          <p:cNvPr id="2" name="Title 1"/>
          <p:cNvSpPr>
            <a:spLocks noGrp="1"/>
          </p:cNvSpPr>
          <p:nvPr>
            <p:ph type="title"/>
          </p:nvPr>
        </p:nvSpPr>
        <p:spPr>
          <a:xfrm>
            <a:off x="785786" y="214290"/>
            <a:ext cx="7620000" cy="1143000"/>
          </a:xfrm>
        </p:spPr>
        <p:txBody>
          <a:bodyPr>
            <a:scene3d>
              <a:camera prst="orthographicFront"/>
              <a:lightRig rig="flat" dir="tl">
                <a:rot lat="0" lon="0" rev="6600000"/>
              </a:lightRig>
            </a:scene3d>
            <a:sp3d extrusionH="25400" contourW="8890">
              <a:bevelT w="38100" h="31750"/>
              <a:contourClr>
                <a:schemeClr val="accent2">
                  <a:shade val="75000"/>
                </a:schemeClr>
              </a:contourClr>
            </a:sp3d>
          </a:bodyPr>
          <a:lstStyle/>
          <a:p>
            <a:r>
              <a:rPr lang="en-US" dirty="0" smtClean="0">
                <a:ln w="11430"/>
                <a:latin typeface="Algerian" pitchFamily="82" charset="0"/>
              </a:rPr>
              <a:t> </a:t>
            </a:r>
            <a:r>
              <a:rPr lang="en-US" sz="4800" dirty="0" smtClean="0">
                <a:ln w="11430"/>
                <a:latin typeface="Algerian" pitchFamily="82" charset="0"/>
              </a:rPr>
              <a:t>INTRODUCTION</a:t>
            </a:r>
            <a:endParaRPr lang="en-GB" sz="4800" dirty="0">
              <a:ln w="11430"/>
              <a:latin typeface="Algerian" pitchFamily="82"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186" y="959643"/>
            <a:ext cx="8229600" cy="857250"/>
          </a:xfrm>
        </p:spPr>
        <p:txBody>
          <a:bodyPr>
            <a:normAutofit/>
          </a:bodyPr>
          <a:lstStyle/>
          <a:p>
            <a:r>
              <a:rPr lang="en-US" sz="4050" dirty="0">
                <a:latin typeface="Times New Roman" pitchFamily="18" charset="0"/>
                <a:cs typeface="Times New Roman" pitchFamily="18" charset="0"/>
              </a:rPr>
              <a:t>LITERATURE SURVEY</a:t>
            </a:r>
          </a:p>
        </p:txBody>
      </p:sp>
      <p:sp>
        <p:nvSpPr>
          <p:cNvPr id="4" name="Slide Number Placeholder 3"/>
          <p:cNvSpPr>
            <a:spLocks noGrp="1"/>
          </p:cNvSpPr>
          <p:nvPr>
            <p:ph type="sldNum" sz="quarter" idx="12"/>
          </p:nvPr>
        </p:nvSpPr>
        <p:spPr/>
        <p:txBody>
          <a:bodyPr/>
          <a:lstStyle/>
          <a:p>
            <a:fld id="{EDF8BD5B-FB61-4B5D-8E15-84383BBC546B}" type="slidenum">
              <a:rPr lang="en-US" smtClean="0"/>
              <a:pPr/>
              <a:t>4</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859793824"/>
              </p:ext>
            </p:extLst>
          </p:nvPr>
        </p:nvGraphicFramePr>
        <p:xfrm>
          <a:off x="611560" y="1916831"/>
          <a:ext cx="8208912" cy="4962130"/>
        </p:xfrm>
        <a:graphic>
          <a:graphicData uri="http://schemas.openxmlformats.org/drawingml/2006/table">
            <a:tbl>
              <a:tblPr/>
              <a:tblGrid>
                <a:gridCol w="1930493">
                  <a:extLst>
                    <a:ext uri="{9D8B030D-6E8A-4147-A177-3AD203B41FA5}">
                      <a16:colId xmlns:a16="http://schemas.microsoft.com/office/drawing/2014/main" xmlns="" val="20000"/>
                    </a:ext>
                  </a:extLst>
                </a:gridCol>
                <a:gridCol w="1530462">
                  <a:extLst>
                    <a:ext uri="{9D8B030D-6E8A-4147-A177-3AD203B41FA5}">
                      <a16:colId xmlns:a16="http://schemas.microsoft.com/office/drawing/2014/main" xmlns="" val="20001"/>
                    </a:ext>
                  </a:extLst>
                </a:gridCol>
                <a:gridCol w="1127559">
                  <a:extLst>
                    <a:ext uri="{9D8B030D-6E8A-4147-A177-3AD203B41FA5}">
                      <a16:colId xmlns:a16="http://schemas.microsoft.com/office/drawing/2014/main" xmlns="" val="20002"/>
                    </a:ext>
                  </a:extLst>
                </a:gridCol>
                <a:gridCol w="1358098">
                  <a:extLst>
                    <a:ext uri="{9D8B030D-6E8A-4147-A177-3AD203B41FA5}">
                      <a16:colId xmlns:a16="http://schemas.microsoft.com/office/drawing/2014/main" xmlns="" val="20003"/>
                    </a:ext>
                  </a:extLst>
                </a:gridCol>
                <a:gridCol w="1131150">
                  <a:extLst>
                    <a:ext uri="{9D8B030D-6E8A-4147-A177-3AD203B41FA5}">
                      <a16:colId xmlns:a16="http://schemas.microsoft.com/office/drawing/2014/main" xmlns="" val="20004"/>
                    </a:ext>
                  </a:extLst>
                </a:gridCol>
                <a:gridCol w="1131150">
                  <a:extLst>
                    <a:ext uri="{9D8B030D-6E8A-4147-A177-3AD203B41FA5}">
                      <a16:colId xmlns:a16="http://schemas.microsoft.com/office/drawing/2014/main" xmlns="" val="486773557"/>
                    </a:ext>
                  </a:extLst>
                </a:gridCol>
              </a:tblGrid>
              <a:tr h="268033">
                <a:tc>
                  <a:txBody>
                    <a:bodyPr/>
                    <a:lstStyle/>
                    <a:p>
                      <a:pPr marL="0" marR="0">
                        <a:lnSpc>
                          <a:spcPct val="115000"/>
                        </a:lnSpc>
                        <a:spcBef>
                          <a:spcPts val="0"/>
                        </a:spcBef>
                        <a:spcAft>
                          <a:spcPts val="0"/>
                        </a:spcAft>
                      </a:pPr>
                      <a:r>
                        <a:rPr lang="en-US" sz="1000" b="1" dirty="0">
                          <a:latin typeface="Times New Roman"/>
                          <a:ea typeface="Calibri"/>
                          <a:cs typeface="Latha"/>
                        </a:rPr>
                        <a:t>TITLE</a:t>
                      </a:r>
                      <a:endParaRPr lang="en-US" sz="1000" b="1"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AUTHOR</a:t>
                      </a:r>
                      <a:endParaRPr lang="en-US" sz="1000" b="1"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Pros</a:t>
                      </a:r>
                      <a:endParaRPr lang="en-US" sz="1000" b="1"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Calibri"/>
                          <a:ea typeface="Calibri"/>
                          <a:cs typeface="Latha"/>
                        </a:rPr>
                        <a:t>Cons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Times New Roman"/>
                          <a:ea typeface="Calibri"/>
                          <a:cs typeface="Latha"/>
                        </a:rPr>
                        <a:t>DATASET</a:t>
                      </a:r>
                      <a:endParaRPr lang="en-US" sz="1000" b="1"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b="1" dirty="0">
                          <a:latin typeface="Calibri"/>
                          <a:ea typeface="Calibri"/>
                          <a:cs typeface="Latha"/>
                        </a:rPr>
                        <a:t>METRICES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0"/>
                  </a:ext>
                </a:extLst>
              </a:tr>
              <a:tr h="808507">
                <a:tc>
                  <a:txBody>
                    <a:bodyPr/>
                    <a:lstStyle/>
                    <a:p>
                      <a:pPr marL="0" marR="0" algn="just">
                        <a:lnSpc>
                          <a:spcPct val="150000"/>
                        </a:lnSpc>
                        <a:spcBef>
                          <a:spcPts val="0"/>
                        </a:spcBef>
                        <a:spcAft>
                          <a:spcPts val="0"/>
                        </a:spcAft>
                      </a:pPr>
                      <a:r>
                        <a:rPr lang="en-US" sz="1000" dirty="0"/>
                        <a:t>A Survey of Machine Learning Based Approaches for </a:t>
                      </a:r>
                      <a:r>
                        <a:rPr lang="en-US" sz="1000" dirty="0" smtClean="0"/>
                        <a:t>breast</a:t>
                      </a:r>
                      <a:r>
                        <a:rPr lang="en-US" sz="1000" baseline="0" dirty="0" smtClean="0"/>
                        <a:t> tumor</a:t>
                      </a:r>
                      <a:r>
                        <a:rPr lang="en-US" sz="1000" dirty="0" smtClean="0"/>
                        <a:t> </a:t>
                      </a:r>
                      <a:r>
                        <a:rPr lang="en-US" sz="1000" dirty="0"/>
                        <a:t>Disease Prediction 2021</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Shubham Bind1</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Used </a:t>
                      </a:r>
                      <a:r>
                        <a:rPr lang="en-US" sz="1000" dirty="0" err="1">
                          <a:latin typeface="Calibri"/>
                          <a:ea typeface="Calibri"/>
                          <a:cs typeface="Latha"/>
                        </a:rPr>
                        <a:t>Realtime</a:t>
                      </a:r>
                      <a:r>
                        <a:rPr lang="en-US" sz="1000" dirty="0">
                          <a:latin typeface="Calibri"/>
                          <a:ea typeface="Calibri"/>
                          <a:cs typeface="Latha"/>
                        </a:rPr>
                        <a:t> </a:t>
                      </a:r>
                      <a:r>
                        <a:rPr lang="en-US" sz="1000" dirty="0" smtClean="0">
                          <a:latin typeface="Calibri"/>
                          <a:ea typeface="Calibri"/>
                          <a:cs typeface="Latha"/>
                        </a:rPr>
                        <a:t>Images</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Less Accuracy</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Calibri"/>
                          <a:ea typeface="Calibri"/>
                          <a:cs typeface="Latha"/>
                        </a:rPr>
                        <a:t>Breastcancer2018</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75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1"/>
                  </a:ext>
                </a:extLst>
              </a:tr>
              <a:tr h="925079">
                <a:tc>
                  <a:txBody>
                    <a:bodyPr/>
                    <a:lstStyle/>
                    <a:p>
                      <a:pPr marL="0" marR="0">
                        <a:lnSpc>
                          <a:spcPct val="115000"/>
                        </a:lnSpc>
                        <a:spcBef>
                          <a:spcPts val="0"/>
                        </a:spcBef>
                        <a:spcAft>
                          <a:spcPts val="0"/>
                        </a:spcAft>
                      </a:pPr>
                      <a:r>
                        <a:rPr lang="en-US" sz="1000" dirty="0" err="1"/>
                        <a:t>Classifcation</a:t>
                      </a:r>
                      <a:r>
                        <a:rPr lang="en-US" sz="1000" dirty="0"/>
                        <a:t> of blood’s disease and its stages using machine learning</a:t>
                      </a:r>
                    </a:p>
                    <a:p>
                      <a:pPr marL="0" marR="0">
                        <a:lnSpc>
                          <a:spcPct val="115000"/>
                        </a:lnSpc>
                        <a:spcBef>
                          <a:spcPts val="0"/>
                        </a:spcBef>
                        <a:spcAft>
                          <a:spcPts val="0"/>
                        </a:spcAft>
                      </a:pPr>
                      <a:r>
                        <a:rPr lang="en-US" sz="1000" dirty="0">
                          <a:latin typeface="Calibri"/>
                          <a:ea typeface="Calibri"/>
                          <a:cs typeface="Latha"/>
                        </a:rPr>
                        <a:t>2022</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a:t>John </a:t>
                      </a:r>
                      <a:r>
                        <a:rPr lang="en-US" sz="1000" dirty="0" err="1"/>
                        <a:t>MichaelTempleton</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active NIR patches are extracted</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The training database consist less image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mn-lt"/>
                          <a:ea typeface="+mn-ea"/>
                          <a:cs typeface="+mn-cs"/>
                        </a:rPr>
                        <a:t>Breast tumor</a:t>
                      </a:r>
                      <a:r>
                        <a:rPr lang="en-US" sz="1000" baseline="0" dirty="0" smtClean="0">
                          <a:latin typeface="+mn-lt"/>
                          <a:ea typeface="+mn-ea"/>
                          <a:cs typeface="+mn-cs"/>
                        </a:rPr>
                        <a:t> </a:t>
                      </a:r>
                      <a:r>
                        <a:rPr lang="en-US" sz="1000" baseline="0" dirty="0" err="1" smtClean="0">
                          <a:latin typeface="+mn-lt"/>
                          <a:ea typeface="+mn-ea"/>
                          <a:cs typeface="+mn-cs"/>
                        </a:rPr>
                        <a:t>Kaggle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65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2"/>
                  </a:ext>
                </a:extLst>
              </a:tr>
              <a:tr h="1158222">
                <a:tc>
                  <a:txBody>
                    <a:bodyPr/>
                    <a:lstStyle/>
                    <a:p>
                      <a:pPr marL="0" marR="0" algn="just">
                        <a:lnSpc>
                          <a:spcPct val="150000"/>
                        </a:lnSpc>
                        <a:spcBef>
                          <a:spcPts val="0"/>
                        </a:spcBef>
                        <a:spcAft>
                          <a:spcPts val="0"/>
                        </a:spcAft>
                      </a:pPr>
                      <a:r>
                        <a:rPr lang="en-US" sz="1000" dirty="0"/>
                        <a:t>Analysis and Prediction of </a:t>
                      </a:r>
                      <a:r>
                        <a:rPr lang="en-US" sz="1000" dirty="0" smtClean="0"/>
                        <a:t>breast </a:t>
                      </a:r>
                      <a:r>
                        <a:rPr lang="en-US" sz="1000" dirty="0"/>
                        <a:t>Disease using Machine Learning Algorithms</a:t>
                      </a:r>
                    </a:p>
                    <a:p>
                      <a:pPr marL="0" marR="0" algn="just">
                        <a:lnSpc>
                          <a:spcPct val="150000"/>
                        </a:lnSpc>
                        <a:spcBef>
                          <a:spcPts val="0"/>
                        </a:spcBef>
                        <a:spcAft>
                          <a:spcPts val="0"/>
                        </a:spcAft>
                      </a:pPr>
                      <a:r>
                        <a:rPr lang="en-US" sz="1000" dirty="0">
                          <a:latin typeface="Calibri"/>
                          <a:ea typeface="Calibri"/>
                          <a:cs typeface="Latha"/>
                        </a:rPr>
                        <a:t>2022</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err="1"/>
                        <a:t>Sohom</a:t>
                      </a:r>
                      <a:r>
                        <a:rPr lang="en-US" sz="1000" dirty="0"/>
                        <a:t> Sen</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Used 30 NIR Images</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The system was trained with Less type of Disease.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smtClean="0">
                          <a:latin typeface="+mn-lt"/>
                          <a:ea typeface="+mn-ea"/>
                          <a:cs typeface="+mn-cs"/>
                        </a:rPr>
                        <a:t>Breast tumor</a:t>
                      </a:r>
                      <a:r>
                        <a:rPr lang="en-US" sz="1000" baseline="0" dirty="0" smtClean="0">
                          <a:latin typeface="+mn-lt"/>
                          <a:ea typeface="+mn-ea"/>
                          <a:cs typeface="+mn-cs"/>
                        </a:rPr>
                        <a:t> </a:t>
                      </a:r>
                      <a:r>
                        <a:rPr lang="en-US" sz="1000" baseline="0" dirty="0" err="1" smtClean="0">
                          <a:latin typeface="+mn-lt"/>
                          <a:ea typeface="+mn-ea"/>
                          <a:cs typeface="+mn-cs"/>
                        </a:rPr>
                        <a:t>Kaggle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84</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3"/>
                  </a:ext>
                </a:extLst>
              </a:tr>
              <a:tr h="887889">
                <a:tc>
                  <a:txBody>
                    <a:bodyPr/>
                    <a:lstStyle/>
                    <a:p>
                      <a:pPr marL="0" marR="0" algn="just">
                        <a:lnSpc>
                          <a:spcPct val="150000"/>
                        </a:lnSpc>
                        <a:spcBef>
                          <a:spcPts val="0"/>
                        </a:spcBef>
                        <a:spcAft>
                          <a:spcPts val="0"/>
                        </a:spcAft>
                      </a:pPr>
                      <a:r>
                        <a:rPr lang="en-US" sz="1000" dirty="0"/>
                        <a:t>Detection of </a:t>
                      </a:r>
                      <a:r>
                        <a:rPr lang="en-US" sz="1000" dirty="0" smtClean="0"/>
                        <a:t>cancer Disease </a:t>
                      </a:r>
                      <a:r>
                        <a:rPr lang="en-US" sz="1000" dirty="0"/>
                        <a:t>Using Machine Learning</a:t>
                      </a:r>
                    </a:p>
                    <a:p>
                      <a:pPr marL="0" marR="0" algn="just">
                        <a:lnSpc>
                          <a:spcPct val="150000"/>
                        </a:lnSpc>
                        <a:spcBef>
                          <a:spcPts val="0"/>
                        </a:spcBef>
                        <a:spcAft>
                          <a:spcPts val="0"/>
                        </a:spcAft>
                      </a:pPr>
                      <a:r>
                        <a:rPr lang="en-US" sz="1000" dirty="0">
                          <a:latin typeface="Calibri"/>
                          <a:ea typeface="Calibri"/>
                          <a:cs typeface="Latha"/>
                        </a:rPr>
                        <a:t>2020</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US" sz="1000" dirty="0" err="1"/>
                        <a:t>G.Priyadharshini</a:t>
                      </a:r>
                      <a:r>
                        <a:rPr lang="en-US" sz="1000" dirty="0"/>
                        <a:t>, 2T.Gowtham</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High Accuracy</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lowest accuracy with 40%.</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NIRDATA</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90</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4"/>
                  </a:ext>
                </a:extLst>
              </a:tr>
              <a:tr h="808507">
                <a:tc>
                  <a:txBody>
                    <a:bodyPr/>
                    <a:lstStyle/>
                    <a:p>
                      <a:pPr marL="0" marR="0" algn="just">
                        <a:lnSpc>
                          <a:spcPct val="150000"/>
                        </a:lnSpc>
                        <a:spcBef>
                          <a:spcPts val="0"/>
                        </a:spcBef>
                        <a:spcAft>
                          <a:spcPts val="0"/>
                        </a:spcAft>
                      </a:pPr>
                      <a:r>
                        <a:rPr lang="en-US" sz="1000" dirty="0"/>
                        <a:t>Predicting Severity Of </a:t>
                      </a:r>
                      <a:r>
                        <a:rPr lang="en-US" sz="1000" dirty="0" smtClean="0"/>
                        <a:t>cancer's </a:t>
                      </a:r>
                      <a:r>
                        <a:rPr lang="en-US" sz="1000" dirty="0"/>
                        <a:t>Disease Using Deep Learning</a:t>
                      </a:r>
                    </a:p>
                    <a:p>
                      <a:pPr marL="0" marR="0" algn="just">
                        <a:lnSpc>
                          <a:spcPct val="150000"/>
                        </a:lnSpc>
                        <a:spcBef>
                          <a:spcPts val="0"/>
                        </a:spcBef>
                        <a:spcAft>
                          <a:spcPts val="0"/>
                        </a:spcAft>
                      </a:pPr>
                      <a:r>
                        <a:rPr lang="en-US" sz="1000" dirty="0">
                          <a:latin typeface="Calibri"/>
                          <a:ea typeface="Calibri"/>
                          <a:cs typeface="Latha"/>
                        </a:rPr>
                        <a:t>2020</a:t>
                      </a: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Srishti Grover</a:t>
                      </a:r>
                      <a:endParaRPr lang="en-US" sz="1000" dirty="0">
                        <a:latin typeface="Calibri"/>
                        <a:ea typeface="Calibri"/>
                        <a:cs typeface="Latha"/>
                      </a:endParaRPr>
                    </a:p>
                  </a:txBody>
                  <a:tcPr marL="36106" marR="3610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Dataset belonging to Multiple category</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Accuracy Low</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t>database with Disease by Name</a:t>
                      </a:r>
                      <a:endParaRPr lang="en-US" sz="1000" dirty="0">
                        <a:latin typeface="Calibri"/>
                        <a:ea typeface="Calibri"/>
                        <a:cs typeface="Latha"/>
                      </a:endParaRP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15000"/>
                        </a:lnSpc>
                        <a:spcBef>
                          <a:spcPts val="0"/>
                        </a:spcBef>
                        <a:spcAft>
                          <a:spcPts val="0"/>
                        </a:spcAft>
                      </a:pPr>
                      <a:r>
                        <a:rPr lang="en-US" sz="1000" dirty="0">
                          <a:latin typeface="Calibri"/>
                          <a:ea typeface="Calibri"/>
                          <a:cs typeface="Latha"/>
                        </a:rPr>
                        <a:t>65</a:t>
                      </a:r>
                    </a:p>
                  </a:txBody>
                  <a:tcPr marL="27080" marR="270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876755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79323" y="6727951"/>
            <a:ext cx="8665210" cy="130387"/>
          </a:xfrm>
          <a:custGeom>
            <a:avLst/>
            <a:gdLst/>
            <a:ahLst/>
            <a:cxnLst/>
            <a:rect l="l" t="t" r="r" b="b"/>
            <a:pathLst>
              <a:path w="8665210" h="97789">
                <a:moveTo>
                  <a:pt x="0" y="97536"/>
                </a:moveTo>
                <a:lnTo>
                  <a:pt x="8664676" y="97536"/>
                </a:lnTo>
                <a:lnTo>
                  <a:pt x="8664676" y="0"/>
                </a:lnTo>
                <a:lnTo>
                  <a:pt x="0" y="0"/>
                </a:lnTo>
                <a:lnTo>
                  <a:pt x="0" y="97536"/>
                </a:lnTo>
                <a:close/>
              </a:path>
            </a:pathLst>
          </a:custGeom>
          <a:solidFill>
            <a:srgbClr val="4DB6AC"/>
          </a:solidFill>
        </p:spPr>
        <p:txBody>
          <a:bodyPr wrap="square" lIns="0" tIns="0" rIns="0" bIns="0" rtlCol="0"/>
          <a:lstStyle/>
          <a:p>
            <a:endParaRPr/>
          </a:p>
        </p:txBody>
      </p:sp>
      <p:sp>
        <p:nvSpPr>
          <p:cNvPr id="3" name="object 3"/>
          <p:cNvSpPr/>
          <p:nvPr/>
        </p:nvSpPr>
        <p:spPr>
          <a:xfrm>
            <a:off x="1" y="6727951"/>
            <a:ext cx="403225" cy="130387"/>
          </a:xfrm>
          <a:custGeom>
            <a:avLst/>
            <a:gdLst/>
            <a:ahLst/>
            <a:cxnLst/>
            <a:rect l="l" t="t" r="r" b="b"/>
            <a:pathLst>
              <a:path w="403225" h="97789">
                <a:moveTo>
                  <a:pt x="0" y="97536"/>
                </a:moveTo>
                <a:lnTo>
                  <a:pt x="403123" y="97536"/>
                </a:lnTo>
                <a:lnTo>
                  <a:pt x="403123" y="0"/>
                </a:lnTo>
                <a:lnTo>
                  <a:pt x="0" y="0"/>
                </a:lnTo>
                <a:lnTo>
                  <a:pt x="0" y="97536"/>
                </a:lnTo>
                <a:close/>
              </a:path>
            </a:pathLst>
          </a:custGeom>
          <a:solidFill>
            <a:srgbClr val="4DB6AC"/>
          </a:solidFill>
        </p:spPr>
        <p:txBody>
          <a:bodyPr wrap="square" lIns="0" tIns="0" rIns="0" bIns="0" rtlCol="0"/>
          <a:lstStyle/>
          <a:p>
            <a:endParaRPr/>
          </a:p>
        </p:txBody>
      </p:sp>
      <p:sp>
        <p:nvSpPr>
          <p:cNvPr id="4" name="object 4"/>
          <p:cNvSpPr txBox="1">
            <a:spLocks noGrp="1"/>
          </p:cNvSpPr>
          <p:nvPr>
            <p:ph type="title"/>
          </p:nvPr>
        </p:nvSpPr>
        <p:spPr>
          <a:xfrm>
            <a:off x="390550" y="427752"/>
            <a:ext cx="5332730" cy="1274708"/>
          </a:xfrm>
          <a:prstGeom prst="rect">
            <a:avLst/>
          </a:prstGeom>
        </p:spPr>
        <p:txBody>
          <a:bodyPr vert="horz" wrap="square" lIns="0" tIns="12700" rIns="0" bIns="0" rtlCol="0">
            <a:spAutoFit/>
          </a:bodyPr>
          <a:lstStyle/>
          <a:p>
            <a:pPr marL="12700">
              <a:lnSpc>
                <a:spcPct val="100000"/>
              </a:lnSpc>
              <a:spcBef>
                <a:spcPts val="100"/>
              </a:spcBef>
            </a:pPr>
            <a:r>
              <a:rPr spc="-5" dirty="0"/>
              <a:t>Segmentation</a:t>
            </a:r>
            <a:r>
              <a:rPr spc="-15" dirty="0"/>
              <a:t> </a:t>
            </a:r>
            <a:r>
              <a:rPr spc="-5" dirty="0"/>
              <a:t>Algorithm</a:t>
            </a:r>
          </a:p>
        </p:txBody>
      </p:sp>
      <p:sp>
        <p:nvSpPr>
          <p:cNvPr id="5" name="object 5"/>
          <p:cNvSpPr txBox="1"/>
          <p:nvPr/>
        </p:nvSpPr>
        <p:spPr>
          <a:xfrm>
            <a:off x="466750" y="1808141"/>
            <a:ext cx="8082280" cy="3314241"/>
          </a:xfrm>
          <a:prstGeom prst="rect">
            <a:avLst/>
          </a:prstGeom>
        </p:spPr>
        <p:txBody>
          <a:bodyPr vert="horz" wrap="square" lIns="0" tIns="12700" rIns="0" bIns="0" rtlCol="0">
            <a:spAutoFit/>
          </a:bodyPr>
          <a:lstStyle/>
          <a:p>
            <a:pPr marL="393700" indent="-381000">
              <a:lnSpc>
                <a:spcPct val="100000"/>
              </a:lnSpc>
              <a:spcBef>
                <a:spcPts val="100"/>
              </a:spcBef>
              <a:buFont typeface="Arial"/>
              <a:buChar char="•"/>
              <a:tabLst>
                <a:tab pos="393065" algn="l"/>
                <a:tab pos="393700" algn="l"/>
              </a:tabLst>
            </a:pPr>
            <a:r>
              <a:rPr sz="2400" spc="-5" dirty="0">
                <a:latin typeface="Times New Roman"/>
                <a:cs typeface="Times New Roman"/>
              </a:rPr>
              <a:t>Process </a:t>
            </a:r>
            <a:r>
              <a:rPr sz="2400" dirty="0">
                <a:latin typeface="Times New Roman"/>
                <a:cs typeface="Times New Roman"/>
              </a:rPr>
              <a:t>of </a:t>
            </a:r>
            <a:r>
              <a:rPr sz="2400" spc="-5" dirty="0">
                <a:latin typeface="Times New Roman"/>
                <a:cs typeface="Times New Roman"/>
              </a:rPr>
              <a:t>partitioning </a:t>
            </a:r>
            <a:r>
              <a:rPr sz="2400" dirty="0">
                <a:latin typeface="Times New Roman"/>
                <a:cs typeface="Times New Roman"/>
              </a:rPr>
              <a:t>a digital </a:t>
            </a:r>
            <a:r>
              <a:rPr sz="2400" spc="-5" dirty="0">
                <a:latin typeface="Times New Roman"/>
                <a:cs typeface="Times New Roman"/>
              </a:rPr>
              <a:t>image </a:t>
            </a:r>
            <a:r>
              <a:rPr sz="2400" dirty="0">
                <a:latin typeface="Times New Roman"/>
                <a:cs typeface="Times New Roman"/>
              </a:rPr>
              <a:t>into </a:t>
            </a:r>
            <a:r>
              <a:rPr sz="2400" spc="-5" dirty="0">
                <a:latin typeface="Times New Roman"/>
                <a:cs typeface="Times New Roman"/>
              </a:rPr>
              <a:t>multiple</a:t>
            </a:r>
            <a:r>
              <a:rPr sz="2400" spc="-65" dirty="0">
                <a:latin typeface="Times New Roman"/>
                <a:cs typeface="Times New Roman"/>
              </a:rPr>
              <a:t> </a:t>
            </a:r>
            <a:r>
              <a:rPr sz="2400" spc="-5" dirty="0">
                <a:latin typeface="Times New Roman"/>
                <a:cs typeface="Times New Roman"/>
              </a:rPr>
              <a:t>segments.</a:t>
            </a:r>
            <a:endParaRPr sz="2400" dirty="0">
              <a:latin typeface="Times New Roman"/>
              <a:cs typeface="Times New Roman"/>
            </a:endParaRPr>
          </a:p>
          <a:p>
            <a:pPr marL="393700" indent="-381000">
              <a:lnSpc>
                <a:spcPct val="100000"/>
              </a:lnSpc>
              <a:spcBef>
                <a:spcPts val="2030"/>
              </a:spcBef>
              <a:buFont typeface="Arial"/>
              <a:buChar char="•"/>
              <a:tabLst>
                <a:tab pos="393065" algn="l"/>
                <a:tab pos="393700" algn="l"/>
              </a:tabLst>
            </a:pPr>
            <a:r>
              <a:rPr sz="2400" spc="-5" dirty="0">
                <a:latin typeface="Times New Roman"/>
                <a:cs typeface="Times New Roman"/>
              </a:rPr>
              <a:t>Used </a:t>
            </a:r>
            <a:r>
              <a:rPr sz="2400" dirty="0">
                <a:latin typeface="Times New Roman"/>
                <a:cs typeface="Times New Roman"/>
              </a:rPr>
              <a:t>to find the location of lesion</a:t>
            </a:r>
            <a:r>
              <a:rPr sz="2400" spc="-95" dirty="0">
                <a:latin typeface="Times New Roman"/>
                <a:cs typeface="Times New Roman"/>
              </a:rPr>
              <a:t> </a:t>
            </a:r>
            <a:r>
              <a:rPr sz="2400" dirty="0">
                <a:latin typeface="Times New Roman"/>
                <a:cs typeface="Times New Roman"/>
              </a:rPr>
              <a:t>border.</a:t>
            </a:r>
          </a:p>
          <a:p>
            <a:pPr marL="393700" indent="-381000">
              <a:lnSpc>
                <a:spcPct val="100000"/>
              </a:lnSpc>
              <a:spcBef>
                <a:spcPts val="2039"/>
              </a:spcBef>
              <a:buFont typeface="Arial"/>
              <a:buChar char="•"/>
              <a:tabLst>
                <a:tab pos="393065" algn="l"/>
                <a:tab pos="393700" algn="l"/>
              </a:tabLst>
            </a:pPr>
            <a:r>
              <a:rPr sz="2400" dirty="0">
                <a:latin typeface="Times New Roman"/>
                <a:cs typeface="Times New Roman"/>
              </a:rPr>
              <a:t>Existing </a:t>
            </a:r>
            <a:r>
              <a:rPr sz="2400" spc="-5" dirty="0">
                <a:latin typeface="Times New Roman"/>
                <a:cs typeface="Times New Roman"/>
              </a:rPr>
              <a:t>algorithms </a:t>
            </a:r>
            <a:r>
              <a:rPr sz="2400" dirty="0">
                <a:latin typeface="Times New Roman"/>
                <a:cs typeface="Times New Roman"/>
              </a:rPr>
              <a:t>are </a:t>
            </a:r>
            <a:r>
              <a:rPr sz="2400" spc="-5" dirty="0">
                <a:latin typeface="Times New Roman"/>
                <a:cs typeface="Times New Roman"/>
              </a:rPr>
              <a:t>only </a:t>
            </a:r>
            <a:r>
              <a:rPr sz="2400" dirty="0">
                <a:latin typeface="Times New Roman"/>
                <a:cs typeface="Times New Roman"/>
              </a:rPr>
              <a:t>applicable to </a:t>
            </a:r>
            <a:r>
              <a:rPr sz="2400" spc="-5" dirty="0">
                <a:latin typeface="Times New Roman"/>
                <a:cs typeface="Times New Roman"/>
              </a:rPr>
              <a:t>dermoscopy</a:t>
            </a:r>
            <a:r>
              <a:rPr sz="2400" spc="-70" dirty="0">
                <a:latin typeface="Times New Roman"/>
                <a:cs typeface="Times New Roman"/>
              </a:rPr>
              <a:t> </a:t>
            </a:r>
            <a:r>
              <a:rPr sz="2400" spc="-5" dirty="0">
                <a:latin typeface="Times New Roman"/>
                <a:cs typeface="Times New Roman"/>
              </a:rPr>
              <a:t>images.</a:t>
            </a:r>
            <a:endParaRPr sz="2400" dirty="0">
              <a:latin typeface="Times New Roman"/>
              <a:cs typeface="Times New Roman"/>
            </a:endParaRPr>
          </a:p>
          <a:p>
            <a:pPr marL="393700" marR="331470" indent="-381000">
              <a:lnSpc>
                <a:spcPct val="114999"/>
              </a:lnSpc>
              <a:spcBef>
                <a:spcPts val="1600"/>
              </a:spcBef>
              <a:buFont typeface="Arial"/>
              <a:buChar char="•"/>
              <a:tabLst>
                <a:tab pos="393065" algn="l"/>
                <a:tab pos="393700" algn="l"/>
              </a:tabLst>
            </a:pPr>
            <a:r>
              <a:rPr sz="2400" dirty="0">
                <a:latin typeface="Times New Roman"/>
                <a:cs typeface="Times New Roman"/>
              </a:rPr>
              <a:t>Digital photographs </a:t>
            </a:r>
            <a:r>
              <a:rPr sz="2400" dirty="0" smtClean="0">
                <a:latin typeface="Times New Roman"/>
                <a:cs typeface="Times New Roman"/>
              </a:rPr>
              <a:t>c</a:t>
            </a:r>
            <a:r>
              <a:rPr lang="en-US" sz="2400" dirty="0" smtClean="0">
                <a:latin typeface="Times New Roman"/>
                <a:cs typeface="Times New Roman"/>
              </a:rPr>
              <a:t>ann</a:t>
            </a:r>
            <a:r>
              <a:rPr sz="2400" dirty="0" smtClean="0">
                <a:latin typeface="Times New Roman"/>
                <a:cs typeface="Times New Roman"/>
              </a:rPr>
              <a:t>ot </a:t>
            </a:r>
            <a:r>
              <a:rPr sz="2400" dirty="0">
                <a:latin typeface="Times New Roman"/>
                <a:cs typeface="Times New Roman"/>
              </a:rPr>
              <a:t>be </a:t>
            </a:r>
            <a:r>
              <a:rPr sz="2400" spc="-5" dirty="0">
                <a:latin typeface="Times New Roman"/>
                <a:cs typeface="Times New Roman"/>
              </a:rPr>
              <a:t>used </a:t>
            </a:r>
            <a:r>
              <a:rPr sz="2400" dirty="0">
                <a:latin typeface="Times New Roman"/>
                <a:cs typeface="Times New Roman"/>
              </a:rPr>
              <a:t>with existing</a:t>
            </a:r>
            <a:r>
              <a:rPr sz="2400" spc="-130" dirty="0">
                <a:latin typeface="Times New Roman"/>
                <a:cs typeface="Times New Roman"/>
              </a:rPr>
              <a:t> </a:t>
            </a:r>
            <a:r>
              <a:rPr sz="2400" spc="-5" dirty="0">
                <a:latin typeface="Times New Roman"/>
                <a:cs typeface="Times New Roman"/>
              </a:rPr>
              <a:t>algorithms  </a:t>
            </a:r>
            <a:r>
              <a:rPr sz="2400" dirty="0">
                <a:latin typeface="Times New Roman"/>
                <a:cs typeface="Times New Roman"/>
              </a:rPr>
              <a:t>because of </a:t>
            </a:r>
            <a:r>
              <a:rPr sz="2400" spc="-5" dirty="0">
                <a:latin typeface="Times New Roman"/>
                <a:cs typeface="Times New Roman"/>
              </a:rPr>
              <a:t>illumination</a:t>
            </a:r>
            <a:r>
              <a:rPr sz="2400" spc="-65" dirty="0">
                <a:latin typeface="Times New Roman"/>
                <a:cs typeface="Times New Roman"/>
              </a:rPr>
              <a:t> </a:t>
            </a:r>
            <a:r>
              <a:rPr sz="2400" dirty="0">
                <a:latin typeface="Times New Roman"/>
                <a:cs typeface="Times New Roman"/>
              </a:rPr>
              <a:t>variation.</a:t>
            </a:r>
          </a:p>
          <a:p>
            <a:pPr marL="393700" indent="-381000">
              <a:lnSpc>
                <a:spcPct val="100000"/>
              </a:lnSpc>
              <a:spcBef>
                <a:spcPts val="2030"/>
              </a:spcBef>
              <a:buFont typeface="Arial"/>
              <a:buChar char="•"/>
              <a:tabLst>
                <a:tab pos="393065" algn="l"/>
                <a:tab pos="393700" algn="l"/>
              </a:tabLst>
            </a:pPr>
            <a:r>
              <a:rPr sz="2400" spc="-5" dirty="0">
                <a:latin typeface="Times New Roman"/>
                <a:cs typeface="Times New Roman"/>
              </a:rPr>
              <a:t>Segmentation </a:t>
            </a:r>
            <a:r>
              <a:rPr sz="2400" dirty="0">
                <a:latin typeface="Times New Roman"/>
                <a:cs typeface="Times New Roman"/>
              </a:rPr>
              <a:t>based on pixel color</a:t>
            </a:r>
            <a:r>
              <a:rPr sz="2400" spc="-55" dirty="0">
                <a:latin typeface="Times New Roman"/>
                <a:cs typeface="Times New Roman"/>
              </a:rPr>
              <a:t> </a:t>
            </a:r>
            <a:r>
              <a:rPr sz="2400" dirty="0">
                <a:latin typeface="Times New Roman"/>
                <a:cs typeface="Times New Roman"/>
              </a:rPr>
              <a:t>intensity.</a:t>
            </a:r>
          </a:p>
        </p:txBody>
      </p:sp>
    </p:spTree>
    <p:extLst>
      <p:ext uri="{BB962C8B-B14F-4D97-AF65-F5344CB8AC3E}">
        <p14:creationId xmlns:p14="http://schemas.microsoft.com/office/powerpoint/2010/main" val="196584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Human based systems are involved in the breast Cancer Detection process.</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But this type of systems are having reliably issues with man made error chances.</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most commonly used technique </a:t>
            </a:r>
            <a:r>
              <a:rPr lang="en-US" dirty="0" smtClean="0">
                <a:latin typeface="Times New Roman" panose="02020603050405020304" pitchFamily="18" charset="0"/>
                <a:cs typeface="Times New Roman" panose="02020603050405020304" pitchFamily="18" charset="0"/>
              </a:rPr>
              <a:t>Auto encoder-Based Neural Network </a:t>
            </a:r>
            <a:r>
              <a:rPr lang="en-US" dirty="0">
                <a:latin typeface="Times New Roman" panose="02020603050405020304" pitchFamily="18" charset="0"/>
                <a:cs typeface="Times New Roman" panose="02020603050405020304" pitchFamily="18" charset="0"/>
              </a:rPr>
              <a:t>Algorithm is not a straightforward task due to the great variety of </a:t>
            </a:r>
            <a:r>
              <a:rPr lang="en-US" dirty="0" smtClean="0">
                <a:latin typeface="Times New Roman" panose="02020603050405020304" pitchFamily="18" charset="0"/>
                <a:cs typeface="Times New Roman" panose="02020603050405020304" pitchFamily="18" charset="0"/>
              </a:rPr>
              <a:t>tumor lesions</a:t>
            </a:r>
            <a:r>
              <a:rPr lang="en-US" dirty="0">
                <a:latin typeface="Times New Roman" panose="02020603050405020304" pitchFamily="18" charset="0"/>
                <a:cs typeface="Times New Roman" panose="02020603050405020304" pitchFamily="18" charset="0"/>
              </a:rPr>
              <a:t>, low contrast between the lesion and the surrounding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irregular and fuzzy lesion borders </a:t>
            </a:r>
            <a:r>
              <a:rPr lang="en-US" dirty="0" smtClean="0">
                <a:latin typeface="Times New Roman" panose="02020603050405020304" pitchFamily="18" charset="0"/>
                <a:cs typeface="Times New Roman" panose="02020603050405020304" pitchFamily="18" charset="0"/>
              </a:rPr>
              <a:t>breast </a:t>
            </a:r>
            <a:r>
              <a:rPr lang="en-US" dirty="0">
                <a:latin typeface="Times New Roman" panose="02020603050405020304" pitchFamily="18" charset="0"/>
                <a:cs typeface="Times New Roman" panose="02020603050405020304" pitchFamily="18" charset="0"/>
              </a:rPr>
              <a:t>types and presence of </a:t>
            </a:r>
            <a:r>
              <a:rPr lang="en-US" dirty="0" smtClean="0">
                <a:latin typeface="Times New Roman" panose="02020603050405020304" pitchFamily="18" charset="0"/>
                <a:cs typeface="Times New Roman" panose="02020603050405020304" pitchFamily="18" charset="0"/>
              </a:rPr>
              <a:t>molecules.</a:t>
            </a:r>
            <a:endParaRPr lang="en-US"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lstStyle/>
          <a:p>
            <a:r>
              <a:rPr lang="en-US" dirty="0" smtClean="0"/>
              <a:t>Existing System</a:t>
            </a:r>
            <a:endParaRPr lang="en-US" dirty="0"/>
          </a:p>
        </p:txBody>
      </p:sp>
    </p:spTree>
    <p:extLst>
      <p:ext uri="{BB962C8B-B14F-4D97-AF65-F5344CB8AC3E}">
        <p14:creationId xmlns:p14="http://schemas.microsoft.com/office/powerpoint/2010/main" val="1638685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1857364"/>
            <a:ext cx="7620000" cy="4525963"/>
          </a:xfrm>
        </p:spPr>
        <p:txBody>
          <a:bodyPr/>
          <a:lstStyle/>
          <a:p>
            <a:pPr>
              <a:buFont typeface="Arial" panose="020B0604020202020204" pitchFamily="34" charset="0"/>
              <a:buChar char="•"/>
            </a:pPr>
            <a:r>
              <a:rPr lang="en-US" dirty="0" smtClean="0">
                <a:latin typeface="Times New Roman" pitchFamily="18" charset="0"/>
                <a:cs typeface="Times New Roman" pitchFamily="18" charset="0"/>
              </a:rPr>
              <a:t>False detection.</a:t>
            </a:r>
          </a:p>
          <a:p>
            <a:pPr>
              <a:buFont typeface="Arial" panose="020B0604020202020204" pitchFamily="34" charset="0"/>
              <a:buChar char="•"/>
            </a:pPr>
            <a:r>
              <a:rPr lang="en-US" dirty="0" smtClean="0">
                <a:latin typeface="Times New Roman" pitchFamily="18" charset="0"/>
                <a:cs typeface="Times New Roman" pitchFamily="18" charset="0"/>
              </a:rPr>
              <a:t>Cannot operate on images with less amount of contrast.</a:t>
            </a:r>
          </a:p>
          <a:p>
            <a:pPr>
              <a:buFont typeface="Arial" panose="020B0604020202020204" pitchFamily="34" charset="0"/>
              <a:buChar char="•"/>
            </a:pPr>
            <a:endParaRPr lang="en-US" dirty="0">
              <a:solidFill>
                <a:schemeClr val="accent2">
                  <a:lumMod val="50000"/>
                </a:schemeClr>
              </a:solidFill>
              <a:latin typeface="Times New Roman" pitchFamily="18" charset="0"/>
              <a:cs typeface="Times New Roman" pitchFamily="18" charset="0"/>
            </a:endParaRPr>
          </a:p>
        </p:txBody>
      </p:sp>
      <p:sp>
        <p:nvSpPr>
          <p:cNvPr id="2" name="Title 1"/>
          <p:cNvSpPr>
            <a:spLocks noGrp="1"/>
          </p:cNvSpPr>
          <p:nvPr>
            <p:ph type="title"/>
          </p:nvPr>
        </p:nvSpPr>
        <p:spPr>
          <a:xfrm>
            <a:off x="714348" y="357166"/>
            <a:ext cx="8048628" cy="1143000"/>
          </a:xfrm>
        </p:spPr>
        <p:txBody>
          <a:bodyPr>
            <a:normAutofit/>
          </a:bodyPr>
          <a:lstStyle/>
          <a:p>
            <a:r>
              <a:rPr lang="en-US" sz="4000" dirty="0" smtClean="0">
                <a:latin typeface="Algerian" pitchFamily="82" charset="0"/>
              </a:rPr>
              <a:t>PROBLEM DEFINITION</a:t>
            </a:r>
            <a:endParaRPr lang="en-US" sz="4000" dirty="0">
              <a:latin typeface="Algerian" pitchFamily="82"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42910" y="1571612"/>
            <a:ext cx="7620000" cy="4525963"/>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main objective of this paper is to propose a deep learning technique in combination with a convolution neural network (CNN) and long short-term memory (LSTM) with a random forest algorithm to diagnose breast cancer</a:t>
            </a:r>
            <a:r>
              <a:rPr lang="en-US" dirty="0" smtClean="0">
                <a:latin typeface="Times New Roman" panose="02020603050405020304" pitchFamily="18" charset="0"/>
                <a:cs typeface="Times New Roman" panose="02020603050405020304" pitchFamily="18" charset="0"/>
              </a:rPr>
              <a:t>.</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Here, CNN is used for feature extraction, and LSTM is used for extracted feature </a:t>
            </a:r>
            <a:r>
              <a:rPr lang="en-US" dirty="0" smtClean="0">
                <a:latin typeface="Times New Roman" panose="02020603050405020304" pitchFamily="18" charset="0"/>
                <a:cs typeface="Times New Roman" panose="02020603050405020304" pitchFamily="18" charset="0"/>
              </a:rPr>
              <a:t>detection.</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scope of CNN_LSTM is used.</a:t>
            </a:r>
          </a:p>
          <a:p>
            <a:pPr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Two phases are training and testing.</a:t>
            </a: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solidFill>
                <a:schemeClr val="accent2">
                  <a:lumMod val="50000"/>
                </a:schemeClr>
              </a:solidFill>
              <a:latin typeface="Times New Roman" pitchFamily="18" charset="0"/>
              <a:cs typeface="Times New Roman" pitchFamily="18" charset="0"/>
            </a:endParaRPr>
          </a:p>
        </p:txBody>
      </p:sp>
      <p:sp>
        <p:nvSpPr>
          <p:cNvPr id="2" name="Title 1"/>
          <p:cNvSpPr>
            <a:spLocks noGrp="1"/>
          </p:cNvSpPr>
          <p:nvPr>
            <p:ph type="title"/>
          </p:nvPr>
        </p:nvSpPr>
        <p:spPr>
          <a:xfrm>
            <a:off x="1071538" y="285728"/>
            <a:ext cx="7620000" cy="1143000"/>
          </a:xfrm>
        </p:spPr>
        <p:txBody>
          <a:bodyPr/>
          <a:lstStyle/>
          <a:p>
            <a:r>
              <a:rPr lang="en-US" sz="4800" smtClean="0">
                <a:latin typeface="Algerian" pitchFamily="82" charset="0"/>
              </a:rPr>
              <a:t>PROPOSED Solution</a:t>
            </a:r>
            <a:endParaRPr lang="en-US" sz="4800" dirty="0">
              <a:latin typeface="Algerian" pitchFamily="82"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lgerian" pitchFamily="82" charset="0"/>
              </a:rPr>
              <a:t>BLOCK DIAGRAM</a:t>
            </a:r>
            <a:endParaRPr lang="en-US" dirty="0">
              <a:latin typeface="Algerian" pitchFamily="82"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1760" y="1556792"/>
            <a:ext cx="6116778" cy="53012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762000"/>
            <a:ext cx="8077200" cy="677108"/>
          </a:xfrm>
          <a:prstGeom prst="rect">
            <a:avLst/>
          </a:prstGeom>
          <a:noFill/>
        </p:spPr>
        <p:txBody>
          <a:bodyPr wrap="square" rtlCol="0">
            <a:spAutoFit/>
          </a:bodyPr>
          <a:lstStyle/>
          <a:p>
            <a:pPr algn="ctr"/>
            <a:r>
              <a:rPr lang="en-US" sz="3800" b="1" u="sng" dirty="0">
                <a:solidFill>
                  <a:srgbClr val="0070C0"/>
                </a:solidFill>
                <a:latin typeface="Times New Roman" pitchFamily="18" charset="0"/>
                <a:cs typeface="Times New Roman" pitchFamily="18" charset="0"/>
              </a:rPr>
              <a:t>TOOLS USED</a:t>
            </a:r>
          </a:p>
        </p:txBody>
      </p:sp>
      <p:sp>
        <p:nvSpPr>
          <p:cNvPr id="3" name="Slide Number Placeholder 2"/>
          <p:cNvSpPr>
            <a:spLocks noGrp="1"/>
          </p:cNvSpPr>
          <p:nvPr>
            <p:ph type="sldNum" sz="quarter" idx="12"/>
          </p:nvPr>
        </p:nvSpPr>
        <p:spPr/>
        <p:txBody>
          <a:bodyPr/>
          <a:lstStyle/>
          <a:p>
            <a:fld id="{00F5CD9A-F09C-4072-896F-05FA261CBBFD}" type="slidenum">
              <a:rPr lang="en-US" smtClean="0"/>
              <a:pPr/>
              <a:t>10</a:t>
            </a:fld>
            <a:endParaRPr lang="en-US"/>
          </a:p>
        </p:txBody>
      </p:sp>
      <p:sp>
        <p:nvSpPr>
          <p:cNvPr id="4" name="TextBox 3"/>
          <p:cNvSpPr txBox="1"/>
          <p:nvPr/>
        </p:nvSpPr>
        <p:spPr>
          <a:xfrm>
            <a:off x="381000" y="1931551"/>
            <a:ext cx="8305800" cy="3847207"/>
          </a:xfrm>
          <a:prstGeom prst="rect">
            <a:avLst/>
          </a:prstGeom>
          <a:noFill/>
        </p:spPr>
        <p:txBody>
          <a:bodyPr wrap="square" rtlCol="0">
            <a:spAutoFit/>
          </a:bodyPr>
          <a:lstStyle/>
          <a:p>
            <a:pPr marL="381000">
              <a:lnSpc>
                <a:spcPct val="100000"/>
              </a:lnSpc>
              <a:spcBef>
                <a:spcPts val="484"/>
              </a:spcBef>
            </a:pPr>
            <a:r>
              <a:rPr lang="en-US" sz="3200" b="1" spc="-5" dirty="0">
                <a:latin typeface="Times" panose="02020603050405020304" pitchFamily="18" charset="0"/>
                <a:cs typeface="Times" panose="02020603050405020304" pitchFamily="18" charset="0"/>
              </a:rPr>
              <a:t>Software</a:t>
            </a:r>
            <a:r>
              <a:rPr lang="en-US" sz="3200" b="1" spc="-25" dirty="0">
                <a:latin typeface="Times" panose="02020603050405020304" pitchFamily="18" charset="0"/>
                <a:cs typeface="Times" panose="02020603050405020304" pitchFamily="18" charset="0"/>
              </a:rPr>
              <a:t> </a:t>
            </a:r>
            <a:r>
              <a:rPr lang="en-US" sz="3200" b="1" spc="-15" dirty="0">
                <a:latin typeface="Times" panose="02020603050405020304" pitchFamily="18" charset="0"/>
                <a:cs typeface="Times" panose="02020603050405020304" pitchFamily="18" charset="0"/>
              </a:rPr>
              <a:t>Requirements</a:t>
            </a:r>
            <a:r>
              <a:rPr lang="en-US" sz="3200" spc="-15" dirty="0">
                <a:latin typeface="Times" panose="02020603050405020304" pitchFamily="18" charset="0"/>
                <a:cs typeface="Times" panose="02020603050405020304" pitchFamily="18" charset="0"/>
              </a:rPr>
              <a:t>:</a:t>
            </a:r>
            <a:endParaRPr lang="en-US" sz="3200" dirty="0">
              <a:latin typeface="Times" panose="02020603050405020304" pitchFamily="18" charset="0"/>
              <a:cs typeface="Times" panose="02020603050405020304" pitchFamily="18" charset="0"/>
            </a:endParaRPr>
          </a:p>
          <a:p>
            <a:pPr marL="447040" indent="-434975">
              <a:lnSpc>
                <a:spcPct val="100000"/>
              </a:lnSpc>
              <a:spcBef>
                <a:spcPts val="390"/>
              </a:spcBef>
              <a:buFont typeface="Arial"/>
              <a:buChar char="•"/>
              <a:tabLst>
                <a:tab pos="447040" algn="l"/>
                <a:tab pos="447675" algn="l"/>
              </a:tabLst>
            </a:pPr>
            <a:r>
              <a:rPr lang="en-US" sz="3200" dirty="0">
                <a:latin typeface="Times" panose="02020603050405020304" pitchFamily="18" charset="0"/>
                <a:cs typeface="Times" panose="02020603050405020304" pitchFamily="18" charset="0"/>
              </a:rPr>
              <a:t>Anaconda IDE</a:t>
            </a:r>
          </a:p>
          <a:p>
            <a:pPr marL="447040" indent="-434975">
              <a:lnSpc>
                <a:spcPct val="100000"/>
              </a:lnSpc>
              <a:spcBef>
                <a:spcPts val="384"/>
              </a:spcBef>
              <a:buFont typeface="Arial"/>
              <a:buChar char="•"/>
              <a:tabLst>
                <a:tab pos="447040" algn="l"/>
                <a:tab pos="447675" algn="l"/>
              </a:tabLst>
            </a:pPr>
            <a:r>
              <a:rPr lang="en-US" sz="3200" dirty="0">
                <a:latin typeface="Times" panose="02020603050405020304" pitchFamily="18" charset="0"/>
                <a:cs typeface="Times" panose="02020603050405020304" pitchFamily="18" charset="0"/>
              </a:rPr>
              <a:t>Python 3.7</a:t>
            </a:r>
          </a:p>
          <a:p>
            <a:pPr marL="381000">
              <a:lnSpc>
                <a:spcPct val="100000"/>
              </a:lnSpc>
              <a:spcBef>
                <a:spcPts val="390"/>
              </a:spcBef>
            </a:pPr>
            <a:r>
              <a:rPr lang="en-US" sz="3200" b="1" spc="-15" dirty="0">
                <a:latin typeface="Times" panose="02020603050405020304" pitchFamily="18" charset="0"/>
                <a:cs typeface="Times" panose="02020603050405020304" pitchFamily="18" charset="0"/>
              </a:rPr>
              <a:t>Hardware</a:t>
            </a:r>
            <a:r>
              <a:rPr lang="en-US" sz="3200" b="1" spc="-25" dirty="0">
                <a:latin typeface="Times" panose="02020603050405020304" pitchFamily="18" charset="0"/>
                <a:cs typeface="Times" panose="02020603050405020304" pitchFamily="18" charset="0"/>
              </a:rPr>
              <a:t> </a:t>
            </a:r>
            <a:r>
              <a:rPr lang="en-US" sz="3200" b="1" spc="-10" dirty="0">
                <a:latin typeface="Times" panose="02020603050405020304" pitchFamily="18" charset="0"/>
                <a:cs typeface="Times" panose="02020603050405020304" pitchFamily="18" charset="0"/>
              </a:rPr>
              <a:t>Requirements:</a:t>
            </a:r>
            <a:endParaRPr lang="en-US" sz="3200" dirty="0">
              <a:latin typeface="Times" panose="02020603050405020304" pitchFamily="18" charset="0"/>
              <a:cs typeface="Times" panose="02020603050405020304" pitchFamily="18" charset="0"/>
            </a:endParaRPr>
          </a:p>
          <a:p>
            <a:pPr marL="447040" indent="-434975">
              <a:lnSpc>
                <a:spcPct val="100000"/>
              </a:lnSpc>
              <a:spcBef>
                <a:spcPts val="380"/>
              </a:spcBef>
              <a:buFont typeface="Arial"/>
              <a:buChar char="•"/>
              <a:tabLst>
                <a:tab pos="447040" algn="l"/>
                <a:tab pos="447675" algn="l"/>
              </a:tabLst>
            </a:pPr>
            <a:r>
              <a:rPr lang="en-US" sz="3200" spc="-15" dirty="0">
                <a:latin typeface="Times" panose="02020603050405020304" pitchFamily="18" charset="0"/>
                <a:cs typeface="Times" panose="02020603050405020304" pitchFamily="18" charset="0"/>
              </a:rPr>
              <a:t>Hard </a:t>
            </a:r>
            <a:r>
              <a:rPr lang="en-US" sz="3200" spc="-5" dirty="0">
                <a:latin typeface="Times" panose="02020603050405020304" pitchFamily="18" charset="0"/>
                <a:cs typeface="Times" panose="02020603050405020304" pitchFamily="18" charset="0"/>
              </a:rPr>
              <a:t>Disk: </a:t>
            </a:r>
            <a:r>
              <a:rPr lang="en-US" sz="3200" spc="-15" dirty="0">
                <a:latin typeface="Times" panose="02020603050405020304" pitchFamily="18" charset="0"/>
                <a:cs typeface="Times" panose="02020603050405020304" pitchFamily="18" charset="0"/>
              </a:rPr>
              <a:t>Greater </a:t>
            </a:r>
            <a:r>
              <a:rPr lang="en-US" sz="3200" dirty="0">
                <a:latin typeface="Times" panose="02020603050405020304" pitchFamily="18" charset="0"/>
                <a:cs typeface="Times" panose="02020603050405020304" pitchFamily="18" charset="0"/>
              </a:rPr>
              <a:t>than</a:t>
            </a:r>
            <a:r>
              <a:rPr lang="en-US" sz="3200" spc="20" dirty="0">
                <a:latin typeface="Times" panose="02020603050405020304" pitchFamily="18" charset="0"/>
                <a:cs typeface="Times" panose="02020603050405020304" pitchFamily="18" charset="0"/>
              </a:rPr>
              <a:t> </a:t>
            </a:r>
            <a:r>
              <a:rPr lang="en-US" sz="3200" spc="-5" dirty="0">
                <a:latin typeface="Times" panose="02020603050405020304" pitchFamily="18" charset="0"/>
                <a:cs typeface="Times" panose="02020603050405020304" pitchFamily="18" charset="0"/>
              </a:rPr>
              <a:t>500 GB</a:t>
            </a:r>
            <a:endParaRPr lang="en-US" sz="3200" dirty="0">
              <a:latin typeface="Times" panose="02020603050405020304" pitchFamily="18" charset="0"/>
              <a:cs typeface="Times" panose="02020603050405020304" pitchFamily="18" charset="0"/>
            </a:endParaRPr>
          </a:p>
          <a:p>
            <a:pPr marL="447040" indent="-434975">
              <a:lnSpc>
                <a:spcPct val="100000"/>
              </a:lnSpc>
              <a:spcBef>
                <a:spcPts val="385"/>
              </a:spcBef>
              <a:buFont typeface="Arial"/>
              <a:buChar char="•"/>
              <a:tabLst>
                <a:tab pos="447040" algn="l"/>
                <a:tab pos="447675" algn="l"/>
              </a:tabLst>
            </a:pPr>
            <a:r>
              <a:rPr lang="en-US" sz="3200" spc="-5" dirty="0">
                <a:latin typeface="Times" panose="02020603050405020304" pitchFamily="18" charset="0"/>
                <a:cs typeface="Times" panose="02020603050405020304" pitchFamily="18" charset="0"/>
              </a:rPr>
              <a:t>RAM: </a:t>
            </a:r>
            <a:r>
              <a:rPr lang="en-US" sz="3200" spc="-15" dirty="0">
                <a:latin typeface="Times" panose="02020603050405020304" pitchFamily="18" charset="0"/>
                <a:cs typeface="Times" panose="02020603050405020304" pitchFamily="18" charset="0"/>
              </a:rPr>
              <a:t>Greater </a:t>
            </a:r>
            <a:r>
              <a:rPr lang="en-US" sz="3200" dirty="0">
                <a:latin typeface="Times" panose="02020603050405020304" pitchFamily="18" charset="0"/>
                <a:cs typeface="Times" panose="02020603050405020304" pitchFamily="18" charset="0"/>
              </a:rPr>
              <a:t>than </a:t>
            </a:r>
            <a:r>
              <a:rPr lang="en-US" sz="3200" spc="-5" dirty="0">
                <a:latin typeface="Times" panose="02020603050405020304" pitchFamily="18" charset="0"/>
                <a:cs typeface="Times" panose="02020603050405020304" pitchFamily="18" charset="0"/>
              </a:rPr>
              <a:t>4 GB</a:t>
            </a:r>
            <a:endParaRPr lang="en-US" sz="3200" dirty="0">
              <a:latin typeface="Times" panose="02020603050405020304" pitchFamily="18" charset="0"/>
              <a:cs typeface="Times" panose="02020603050405020304" pitchFamily="18" charset="0"/>
            </a:endParaRPr>
          </a:p>
          <a:p>
            <a:pPr marL="447040" indent="-434975">
              <a:lnSpc>
                <a:spcPct val="100000"/>
              </a:lnSpc>
              <a:spcBef>
                <a:spcPts val="390"/>
              </a:spcBef>
              <a:buFont typeface="Arial"/>
              <a:buChar char="•"/>
              <a:tabLst>
                <a:tab pos="447040" algn="l"/>
                <a:tab pos="447675" algn="l"/>
              </a:tabLst>
            </a:pPr>
            <a:r>
              <a:rPr lang="en-US" sz="3200" spc="-10" dirty="0">
                <a:latin typeface="Times" panose="02020603050405020304" pitchFamily="18" charset="0"/>
                <a:cs typeface="Times" panose="02020603050405020304" pitchFamily="18" charset="0"/>
              </a:rPr>
              <a:t>Processor: </a:t>
            </a:r>
            <a:r>
              <a:rPr lang="en-US" sz="3200" spc="-15" dirty="0" smtClean="0">
                <a:latin typeface="Times" panose="02020603050405020304" pitchFamily="18" charset="0"/>
                <a:cs typeface="Times" panose="02020603050405020304" pitchFamily="18" charset="0"/>
              </a:rPr>
              <a:t>I3 Core </a:t>
            </a:r>
            <a:r>
              <a:rPr lang="en-US" sz="3200" dirty="0" smtClean="0">
                <a:latin typeface="Times" panose="02020603050405020304" pitchFamily="18" charset="0"/>
                <a:cs typeface="Times" panose="02020603050405020304" pitchFamily="18" charset="0"/>
              </a:rPr>
              <a:t>and</a:t>
            </a:r>
            <a:r>
              <a:rPr lang="en-US" sz="3200" spc="-25" dirty="0" smtClean="0">
                <a:latin typeface="Times" panose="02020603050405020304" pitchFamily="18" charset="0"/>
                <a:cs typeface="Times" panose="02020603050405020304" pitchFamily="18" charset="0"/>
              </a:rPr>
              <a:t> </a:t>
            </a:r>
            <a:r>
              <a:rPr lang="en-US" sz="3200" spc="-10" dirty="0">
                <a:latin typeface="Times" panose="02020603050405020304" pitchFamily="18" charset="0"/>
                <a:cs typeface="Times" panose="02020603050405020304" pitchFamily="18" charset="0"/>
              </a:rPr>
              <a:t>Above</a:t>
            </a:r>
            <a:endParaRPr lang="en-US" sz="32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768616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1714488"/>
            <a:ext cx="7620000" cy="4525963"/>
          </a:xfrm>
        </p:spPr>
        <p:txBody>
          <a:bodyPr/>
          <a:lstStyle/>
          <a:p>
            <a:pPr>
              <a:buFont typeface="Arial" panose="020B0604020202020204" pitchFamily="34" charset="0"/>
              <a:buChar char="•"/>
            </a:pPr>
            <a:r>
              <a:rPr lang="en-US" dirty="0" smtClean="0">
                <a:latin typeface="Times New Roman" pitchFamily="18" charset="0"/>
                <a:cs typeface="Times New Roman" pitchFamily="18" charset="0"/>
              </a:rPr>
              <a:t>Early detection of </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Cancer will reduces the complication.</a:t>
            </a:r>
          </a:p>
          <a:p>
            <a:pPr>
              <a:buFont typeface="Arial" panose="020B0604020202020204" pitchFamily="34" charset="0"/>
              <a:buChar char="•"/>
            </a:pPr>
            <a:r>
              <a:rPr lang="en-US" dirty="0" smtClean="0">
                <a:latin typeface="Times New Roman" pitchFamily="18" charset="0"/>
                <a:cs typeface="Times New Roman" pitchFamily="18" charset="0"/>
              </a:rPr>
              <a:t>Reduction in significant amount of workload and time for ophthalmologists.</a:t>
            </a:r>
          </a:p>
          <a:p>
            <a:pPr>
              <a:buFont typeface="Arial" panose="020B0604020202020204" pitchFamily="34" charset="0"/>
              <a:buChar char="•"/>
            </a:pPr>
            <a:r>
              <a:rPr lang="en-US" dirty="0" smtClean="0">
                <a:latin typeface="Times New Roman" pitchFamily="18" charset="0"/>
                <a:cs typeface="Times New Roman" pitchFamily="18" charset="0"/>
              </a:rPr>
              <a:t>CNN-LSTM is able to generalize since they are trained by example.</a:t>
            </a:r>
          </a:p>
        </p:txBody>
      </p:sp>
      <p:sp>
        <p:nvSpPr>
          <p:cNvPr id="2" name="Title 1"/>
          <p:cNvSpPr>
            <a:spLocks noGrp="1"/>
          </p:cNvSpPr>
          <p:nvPr>
            <p:ph type="title"/>
          </p:nvPr>
        </p:nvSpPr>
        <p:spPr>
          <a:xfrm>
            <a:off x="0" y="214290"/>
            <a:ext cx="8229600" cy="1143000"/>
          </a:xfrm>
        </p:spPr>
        <p:txBody>
          <a:bodyPr/>
          <a:lstStyle/>
          <a:p>
            <a:r>
              <a:rPr lang="en-US" dirty="0" smtClean="0">
                <a:solidFill>
                  <a:srgbClr val="7030A0"/>
                </a:solidFill>
                <a:latin typeface="Algerian" pitchFamily="82" charset="0"/>
              </a:rPr>
              <a:t>        </a:t>
            </a:r>
            <a:r>
              <a:rPr lang="en-US" dirty="0" smtClean="0">
                <a:latin typeface="Algerian" pitchFamily="82" charset="0"/>
              </a:rPr>
              <a:t>ADVANTAGES</a:t>
            </a:r>
            <a:endParaRPr lang="en-US" dirty="0">
              <a:latin typeface="Algerian" pitchFamily="82"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24" y="1571612"/>
            <a:ext cx="7620000" cy="4525963"/>
          </a:xfrm>
        </p:spPr>
        <p:txBody>
          <a:bodyPr/>
          <a:lstStyle/>
          <a:p>
            <a:r>
              <a:rPr lang="en-US" dirty="0" smtClean="0">
                <a:latin typeface="Times New Roman" pitchFamily="18" charset="0"/>
                <a:cs typeface="Times New Roman" pitchFamily="18" charset="0"/>
              </a:rPr>
              <a:t>Limitation in choosing the size of image</a:t>
            </a:r>
          </a:p>
          <a:p>
            <a:r>
              <a:rPr lang="en-US" dirty="0" smtClean="0">
                <a:latin typeface="Times New Roman" pitchFamily="18" charset="0"/>
                <a:cs typeface="Times New Roman" pitchFamily="18" charset="0"/>
              </a:rPr>
              <a:t>Costly implementation</a:t>
            </a:r>
            <a:endParaRPr lang="en-US" dirty="0">
              <a:latin typeface="Times New Roman" pitchFamily="18" charset="0"/>
              <a:cs typeface="Times New Roman" pitchFamily="18" charset="0"/>
            </a:endParaRPr>
          </a:p>
        </p:txBody>
      </p:sp>
      <p:sp>
        <p:nvSpPr>
          <p:cNvPr id="2" name="Title 1"/>
          <p:cNvSpPr>
            <a:spLocks noGrp="1"/>
          </p:cNvSpPr>
          <p:nvPr>
            <p:ph type="title"/>
          </p:nvPr>
        </p:nvSpPr>
        <p:spPr>
          <a:xfrm>
            <a:off x="928662" y="285728"/>
            <a:ext cx="7620000" cy="1143000"/>
          </a:xfrm>
        </p:spPr>
        <p:txBody>
          <a:bodyPr/>
          <a:lstStyle/>
          <a:p>
            <a:r>
              <a:rPr lang="en-US" dirty="0" smtClean="0">
                <a:latin typeface="Algerian" pitchFamily="82" charset="0"/>
              </a:rPr>
              <a:t>DISADVANTAGES</a:t>
            </a:r>
            <a:endParaRPr lang="en-US" dirty="0">
              <a:latin typeface="Algerian" pitchFamily="82"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94A122E-F35B-4620-879D-488C7948AA4A}"/>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xmlns="" id="{45BFF84C-0714-43FB-8091-8533CB605E06}"/>
              </a:ext>
            </a:extLst>
          </p:cNvPr>
          <p:cNvSpPr>
            <a:spLocks noGrp="1"/>
          </p:cNvSpPr>
          <p:nvPr>
            <p:ph idx="1"/>
          </p:nvPr>
        </p:nvSpPr>
        <p:spPr/>
        <p:txBody>
          <a:bodyPr/>
          <a:lstStyle/>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 Collection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Dataset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 Preparation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Model Selection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err="1">
                <a:latin typeface="Times New Roman" panose="02020603050405020304" pitchFamily="18" charset="0"/>
                <a:ea typeface="Times New Roman" panose="02020603050405020304" pitchFamily="18" charset="0"/>
                <a:cs typeface="Times New Roman" panose="02020603050405020304" pitchFamily="18" charset="0"/>
              </a:rPr>
              <a:t>Analyze</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 and Prediction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buFont typeface="Wingdings" panose="05000000000000000000" pitchFamily="2" charset="2"/>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Accuracy on 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57175" indent="-257175" algn="just">
              <a:lnSpc>
                <a:spcPct val="150000"/>
              </a:lnSpc>
              <a:spcBef>
                <a:spcPts val="0"/>
              </a:spcBef>
              <a:spcAft>
                <a:spcPts val="750"/>
              </a:spcAft>
              <a:buFont typeface="Wingdings" panose="05000000000000000000" pitchFamily="2" charset="2"/>
              <a:buChar char=""/>
            </a:pPr>
            <a:r>
              <a:rPr lang="en-IN" sz="1350" kern="1800" dirty="0">
                <a:latin typeface="Tamil"/>
                <a:ea typeface="Times New Roman" panose="02020603050405020304" pitchFamily="18" charset="0"/>
                <a:cs typeface="Segoe UI" panose="020B0502040204020203" pitchFamily="34" charset="0"/>
              </a:rPr>
              <a:t>Saving the Trained Model</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6218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282BD74-93C2-08CD-587E-EAE67E5FC049}"/>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Data Collection:</a:t>
            </a:r>
            <a:endParaRPr lang="en-US" dirty="0"/>
          </a:p>
        </p:txBody>
      </p:sp>
      <p:sp>
        <p:nvSpPr>
          <p:cNvPr id="3" name="Content Placeholder 2">
            <a:extLst>
              <a:ext uri="{FF2B5EF4-FFF2-40B4-BE49-F238E27FC236}">
                <a16:creationId xmlns:a16="http://schemas.microsoft.com/office/drawing/2014/main" xmlns="" id="{A6BBF9E2-66AF-15C6-B725-E2EF47848D37}"/>
              </a:ext>
            </a:extLst>
          </p:cNvPr>
          <p:cNvSpPr>
            <a:spLocks noGrp="1"/>
          </p:cNvSpPr>
          <p:nvPr>
            <p:ph idx="1"/>
          </p:nvPr>
        </p:nvSpPr>
        <p:spPr/>
        <p:txBody>
          <a:bodyPr/>
          <a:lstStyle/>
          <a:p>
            <a:pPr marL="29718" indent="-285750">
              <a:lnSpc>
                <a:spcPct val="150000"/>
              </a:lnSpc>
              <a:spcBef>
                <a:spcPts val="0"/>
              </a:spcBef>
              <a:spcAft>
                <a:spcPts val="750"/>
              </a:spcAft>
              <a:buFont typeface="Arial" panose="020B0604020202020204" pitchFamily="34" charset="0"/>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This is the first real step towards the real development of a machine learning model, collecting data. This is a critical step that will cascade in how good the model will be, the more and better data that we get, the better our model will perform.</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9718" indent="-285750">
              <a:lnSpc>
                <a:spcPct val="150000"/>
              </a:lnSpc>
              <a:spcBef>
                <a:spcPts val="0"/>
              </a:spcBef>
              <a:spcAft>
                <a:spcPts val="750"/>
              </a:spcAft>
              <a:buFont typeface="Arial" panose="020B0604020202020204" pitchFamily="34" charset="0"/>
              <a:buChar char="•"/>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There are several techniques to collect the data, like web scraping, manual interventions and etc.</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29718" indent="-285750" algn="just">
              <a:lnSpc>
                <a:spcPct val="150000"/>
              </a:lnSpc>
              <a:spcBef>
                <a:spcPts val="0"/>
              </a:spcBef>
              <a:spcAft>
                <a:spcPts val="750"/>
              </a:spcAft>
              <a:buFont typeface="Arial" panose="020B0604020202020204" pitchFamily="34" charset="0"/>
              <a:buChar char="•"/>
            </a:pP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Breast Cancer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dataset</a:t>
            </a:r>
            <a:r>
              <a:rPr lang="en-IN" sz="1350" dirty="0">
                <a:latin typeface="Calibri" panose="020F0502020204030204" pitchFamily="34" charset="0"/>
                <a:ea typeface="Times New Roman" panose="02020603050405020304" pitchFamily="18" charset="0"/>
                <a:cs typeface="Times New Roman" panose="02020603050405020304" pitchFamily="18" charset="0"/>
              </a:rPr>
              <a:t>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taken  from </a:t>
            </a: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IN" sz="1350" dirty="0" err="1">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kaggle</a:t>
            </a: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and some other source</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a:buFont typeface="Arial" panose="020B0604020202020204" pitchFamily="34" charset="0"/>
              <a:buChar char="•"/>
            </a:pPr>
            <a:endParaRPr lang="en-US" dirty="0"/>
          </a:p>
        </p:txBody>
      </p:sp>
    </p:spTree>
    <p:extLst>
      <p:ext uri="{BB962C8B-B14F-4D97-AF65-F5344CB8AC3E}">
        <p14:creationId xmlns:p14="http://schemas.microsoft.com/office/powerpoint/2010/main" val="1504217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BEC434-5F14-E973-AEB0-66AAC11E43DE}"/>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rPr>
              <a:t>Data Preparation:</a:t>
            </a:r>
            <a:endParaRPr lang="en-US" dirty="0"/>
          </a:p>
        </p:txBody>
      </p:sp>
      <p:sp>
        <p:nvSpPr>
          <p:cNvPr id="3" name="Content Placeholder 2">
            <a:extLst>
              <a:ext uri="{FF2B5EF4-FFF2-40B4-BE49-F238E27FC236}">
                <a16:creationId xmlns:a16="http://schemas.microsoft.com/office/drawing/2014/main" xmlns="" id="{F8C3A07B-F0DE-53E2-0D03-C3465FB0D316}"/>
              </a:ext>
            </a:extLst>
          </p:cNvPr>
          <p:cNvSpPr>
            <a:spLocks noGrp="1"/>
          </p:cNvSpPr>
          <p:nvPr>
            <p:ph idx="1"/>
          </p:nvPr>
        </p:nvSpPr>
        <p:spPr/>
        <p:txBody>
          <a:bodyPr/>
          <a:lstStyle/>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we will transform the data. By getting rid of missing data and removing some columns. First we will create a list of column names that we want to keep or retain.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Next we drop or remove all columns except for the columns that we want to retain.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773"/>
              </a:spcBef>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Finally we drop or remove the rows that have missing values from the data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62675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FD2AD2C-2DA3-361C-E397-17B9B1E0F00F}"/>
              </a:ext>
            </a:extLst>
          </p:cNvPr>
          <p:cNvSpPr>
            <a:spLocks noGrp="1"/>
          </p:cNvSpPr>
          <p:nvPr>
            <p:ph type="title"/>
          </p:nvPr>
        </p:nvSpPr>
        <p:spPr/>
        <p:txBody>
          <a:bodyPr>
            <a:normAutofit/>
          </a:bodyPr>
          <a:lstStyle/>
          <a:p>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Model Selection:</a:t>
            </a:r>
            <a:endParaRPr lang="en-US" dirty="0"/>
          </a:p>
        </p:txBody>
      </p:sp>
      <p:sp>
        <p:nvSpPr>
          <p:cNvPr id="3" name="Content Placeholder 2">
            <a:extLst>
              <a:ext uri="{FF2B5EF4-FFF2-40B4-BE49-F238E27FC236}">
                <a16:creationId xmlns:a16="http://schemas.microsoft.com/office/drawing/2014/main" xmlns="" id="{FFEABA06-5956-7C9D-18D5-5091AAAC51B2}"/>
              </a:ext>
            </a:extLst>
          </p:cNvPr>
          <p:cNvSpPr>
            <a:spLocks noGrp="1"/>
          </p:cNvSpPr>
          <p:nvPr>
            <p:ph idx="1"/>
          </p:nvPr>
        </p:nvSpPr>
        <p:spPr/>
        <p:txBody>
          <a:bodyPr>
            <a:normAutofit/>
          </a:bodyPr>
          <a:lstStyle/>
          <a:p>
            <a:pPr marL="0">
              <a:lnSpc>
                <a:spcPct val="150000"/>
              </a:lnSpc>
              <a:spcBef>
                <a:spcPts val="0"/>
              </a:spcBef>
              <a:spcAft>
                <a:spcPts val="750"/>
              </a:spcAft>
            </a:pP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While creating a machine learning model, we need two dataset, one for training and other for testing. But now we have only one. So lets split this in two with a ratio of 80:20. We will also divide the </a:t>
            </a:r>
            <a:r>
              <a:rPr lang="en-IN" sz="1350" spc="-4" dirty="0" err="1">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dataframe</a:t>
            </a:r>
            <a:r>
              <a:rPr lang="en-IN" sz="1350" spc="-4" dirty="0">
                <a:solidFill>
                  <a:srgbClr val="292929"/>
                </a:solidFill>
                <a:latin typeface="Times New Roman" panose="02020603050405020304" pitchFamily="18" charset="0"/>
                <a:ea typeface="Times New Roman" panose="02020603050405020304" pitchFamily="18" charset="0"/>
                <a:cs typeface="Times New Roman" panose="02020603050405020304" pitchFamily="18" charset="0"/>
              </a:rPr>
              <a:t> into feature column and label column.</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nSpc>
                <a:spcPct val="150000"/>
              </a:lnSpc>
              <a:spcBef>
                <a:spcPts val="0"/>
              </a:spcBef>
              <a:spcAft>
                <a:spcPts val="750"/>
              </a:spcAft>
            </a:pPr>
            <a:r>
              <a:rPr lang="en-IN" sz="1350" spc="-4" dirty="0">
                <a:solidFill>
                  <a:srgbClr val="292929"/>
                </a:solidFill>
                <a:latin typeface="Times New Roman" panose="02020603050405020304" pitchFamily="18" charset="0"/>
                <a:ea typeface="Times New Roman" panose="02020603050405020304" pitchFamily="18" charset="0"/>
              </a:rPr>
              <a:t>Here we imported </a:t>
            </a:r>
            <a:r>
              <a:rPr lang="en-IN" sz="1350" spc="-4" dirty="0" err="1">
                <a:solidFill>
                  <a:srgbClr val="292929"/>
                </a:solidFill>
                <a:latin typeface="Times New Roman" panose="02020603050405020304" pitchFamily="18" charset="0"/>
                <a:ea typeface="Times New Roman" panose="02020603050405020304" pitchFamily="18" charset="0"/>
              </a:rPr>
              <a:t>train_test_split</a:t>
            </a:r>
            <a:r>
              <a:rPr lang="en-IN" sz="1350" spc="-4" dirty="0">
                <a:solidFill>
                  <a:srgbClr val="292929"/>
                </a:solidFill>
                <a:latin typeface="Times New Roman" panose="02020603050405020304" pitchFamily="18" charset="0"/>
                <a:ea typeface="Times New Roman" panose="02020603050405020304" pitchFamily="18" charset="0"/>
              </a:rPr>
              <a:t> function of </a:t>
            </a:r>
            <a:r>
              <a:rPr lang="en-IN" sz="1350" spc="-4" dirty="0" err="1">
                <a:solidFill>
                  <a:srgbClr val="292929"/>
                </a:solidFill>
                <a:latin typeface="Times New Roman" panose="02020603050405020304" pitchFamily="18" charset="0"/>
                <a:ea typeface="Times New Roman" panose="02020603050405020304" pitchFamily="18" charset="0"/>
              </a:rPr>
              <a:t>sklearn</a:t>
            </a:r>
            <a:r>
              <a:rPr lang="en-IN" sz="1350" spc="-4" dirty="0">
                <a:solidFill>
                  <a:srgbClr val="292929"/>
                </a:solidFill>
                <a:latin typeface="Times New Roman" panose="02020603050405020304" pitchFamily="18" charset="0"/>
                <a:ea typeface="Times New Roman" panose="02020603050405020304" pitchFamily="18" charset="0"/>
              </a:rPr>
              <a:t>. Then use it to split the dataset. Also, </a:t>
            </a:r>
            <a:r>
              <a:rPr lang="en-IN" sz="1350" i="1" spc="-4" dirty="0" err="1">
                <a:solidFill>
                  <a:srgbClr val="292929"/>
                </a:solidFill>
                <a:latin typeface="Times New Roman" panose="02020603050405020304" pitchFamily="18" charset="0"/>
                <a:ea typeface="Times New Roman" panose="02020603050405020304" pitchFamily="18" charset="0"/>
              </a:rPr>
              <a:t>test_size</a:t>
            </a:r>
            <a:r>
              <a:rPr lang="en-IN" sz="1350" i="1" spc="-4" dirty="0">
                <a:solidFill>
                  <a:srgbClr val="292929"/>
                </a:solidFill>
                <a:latin typeface="Times New Roman" panose="02020603050405020304" pitchFamily="18" charset="0"/>
                <a:ea typeface="Times New Roman" panose="02020603050405020304" pitchFamily="18" charset="0"/>
              </a:rPr>
              <a:t> = 0.2</a:t>
            </a:r>
            <a:r>
              <a:rPr lang="en-IN" sz="1350" spc="-4" dirty="0">
                <a:solidFill>
                  <a:srgbClr val="292929"/>
                </a:solidFill>
                <a:latin typeface="Times New Roman" panose="02020603050405020304" pitchFamily="18" charset="0"/>
                <a:ea typeface="Times New Roman" panose="02020603050405020304" pitchFamily="18" charset="0"/>
              </a:rPr>
              <a:t>, it makes the split with 80% as train dataset and 20% as test dataset.</a:t>
            </a:r>
            <a:endParaRPr lang="en-US" sz="1350" dirty="0">
              <a:latin typeface="Times New Roman" panose="02020603050405020304" pitchFamily="18" charset="0"/>
              <a:ea typeface="Times New Roman" panose="02020603050405020304" pitchFamily="18" charset="0"/>
            </a:endParaRPr>
          </a:p>
          <a:p>
            <a:pPr marL="0" algn="just">
              <a:lnSpc>
                <a:spcPct val="150000"/>
              </a:lnSpc>
              <a:spcBef>
                <a:spcPts val="1800"/>
              </a:spcBef>
            </a:pPr>
            <a:r>
              <a:rPr lang="en-IN" sz="1350" spc="-4" dirty="0">
                <a:solidFill>
                  <a:srgbClr val="292929"/>
                </a:solidFill>
                <a:latin typeface="Times New Roman" panose="02020603050405020304" pitchFamily="18" charset="0"/>
                <a:ea typeface="Times New Roman" panose="02020603050405020304" pitchFamily="18" charset="0"/>
              </a:rPr>
              <a:t>The </a:t>
            </a:r>
            <a:r>
              <a:rPr lang="en-IN" sz="1350" i="1" spc="-4" dirty="0" err="1">
                <a:solidFill>
                  <a:srgbClr val="292929"/>
                </a:solidFill>
                <a:latin typeface="Times New Roman" panose="02020603050405020304" pitchFamily="18" charset="0"/>
                <a:ea typeface="Times New Roman" panose="02020603050405020304" pitchFamily="18" charset="0"/>
              </a:rPr>
              <a:t>random_state</a:t>
            </a:r>
            <a:r>
              <a:rPr lang="en-IN" sz="1350" spc="-4" dirty="0">
                <a:solidFill>
                  <a:srgbClr val="292929"/>
                </a:solidFill>
                <a:latin typeface="Times New Roman" panose="02020603050405020304" pitchFamily="18" charset="0"/>
                <a:ea typeface="Times New Roman" panose="02020603050405020304" pitchFamily="18" charset="0"/>
              </a:rPr>
              <a:t> parameter seeds random number generator that helps to split the dataset.</a:t>
            </a:r>
            <a:endParaRPr lang="en-US" sz="1350" dirty="0">
              <a:latin typeface="Times New Roman" panose="02020603050405020304" pitchFamily="18" charset="0"/>
              <a:ea typeface="Times New Roman" panose="02020603050405020304" pitchFamily="18" charset="0"/>
            </a:endParaRPr>
          </a:p>
          <a:p>
            <a:pPr marL="0" algn="just">
              <a:lnSpc>
                <a:spcPct val="150000"/>
              </a:lnSpc>
              <a:spcBef>
                <a:spcPts val="1800"/>
              </a:spcBef>
            </a:pPr>
            <a:r>
              <a:rPr lang="en-IN" sz="1350" spc="-4" dirty="0">
                <a:solidFill>
                  <a:srgbClr val="292929"/>
                </a:solidFill>
                <a:latin typeface="Times New Roman" panose="02020603050405020304" pitchFamily="18" charset="0"/>
                <a:ea typeface="Times New Roman" panose="02020603050405020304" pitchFamily="18" charset="0"/>
              </a:rPr>
              <a:t>The function returns four datasets. Labelled them as </a:t>
            </a:r>
            <a:r>
              <a:rPr lang="en-IN" sz="1350" i="1" spc="-4" dirty="0" err="1">
                <a:solidFill>
                  <a:srgbClr val="292929"/>
                </a:solidFill>
                <a:latin typeface="Times New Roman" panose="02020603050405020304" pitchFamily="18" charset="0"/>
                <a:ea typeface="Times New Roman" panose="02020603050405020304" pitchFamily="18" charset="0"/>
              </a:rPr>
              <a:t>train_x</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train_y</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test_x</a:t>
            </a:r>
            <a:r>
              <a:rPr lang="en-IN" sz="1350" i="1" spc="-4" dirty="0">
                <a:solidFill>
                  <a:srgbClr val="292929"/>
                </a:solidFill>
                <a:latin typeface="Times New Roman" panose="02020603050405020304" pitchFamily="18" charset="0"/>
                <a:ea typeface="Times New Roman" panose="02020603050405020304" pitchFamily="18" charset="0"/>
              </a:rPr>
              <a:t>, </a:t>
            </a:r>
            <a:r>
              <a:rPr lang="en-IN" sz="1350" i="1" spc="-4" dirty="0" err="1">
                <a:solidFill>
                  <a:srgbClr val="292929"/>
                </a:solidFill>
                <a:latin typeface="Times New Roman" panose="02020603050405020304" pitchFamily="18" charset="0"/>
                <a:ea typeface="Times New Roman" panose="02020603050405020304" pitchFamily="18" charset="0"/>
              </a:rPr>
              <a:t>test_y</a:t>
            </a:r>
            <a:r>
              <a:rPr lang="en-IN" sz="1350" i="1" spc="-4" dirty="0">
                <a:solidFill>
                  <a:srgbClr val="292929"/>
                </a:solidFill>
                <a:latin typeface="Times New Roman" panose="02020603050405020304" pitchFamily="18" charset="0"/>
                <a:ea typeface="Times New Roman" panose="02020603050405020304" pitchFamily="18" charset="0"/>
              </a:rPr>
              <a:t>.</a:t>
            </a:r>
            <a:r>
              <a:rPr lang="en-IN" sz="1350" spc="-4" dirty="0">
                <a:solidFill>
                  <a:srgbClr val="292929"/>
                </a:solidFill>
                <a:latin typeface="Times New Roman" panose="02020603050405020304" pitchFamily="18" charset="0"/>
                <a:ea typeface="Times New Roman" panose="02020603050405020304" pitchFamily="18" charset="0"/>
              </a:rPr>
              <a:t> If we see shape of this datasets we can see the split of dataset.</a:t>
            </a:r>
            <a:endParaRPr lang="en-US" sz="1350" dirty="0">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2158165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109075-1784-B918-BA36-FD29A681FBF9}"/>
              </a:ext>
            </a:extLst>
          </p:cNvPr>
          <p:cNvSpPr>
            <a:spLocks noGrp="1"/>
          </p:cNvSpPr>
          <p:nvPr>
            <p:ph type="title"/>
          </p:nvPr>
        </p:nvSpPr>
        <p:spPr/>
        <p:txBody>
          <a:bodyPr/>
          <a:lstStyle/>
          <a:p>
            <a:r>
              <a:rPr lang="en-IN" sz="3600" dirty="0">
                <a:effectLst/>
                <a:latin typeface="Times New Roman" panose="02020603050405020304" pitchFamily="18" charset="0"/>
                <a:ea typeface="Times New Roman" panose="02020603050405020304" pitchFamily="18" charset="0"/>
                <a:cs typeface="Times New Roman" panose="02020603050405020304" pitchFamily="18" charset="0"/>
              </a:rPr>
              <a:t>Model Selection:</a:t>
            </a:r>
            <a:endParaRPr lang="en-US" dirty="0"/>
          </a:p>
        </p:txBody>
      </p:sp>
      <p:sp>
        <p:nvSpPr>
          <p:cNvPr id="3" name="Content Placeholder 2">
            <a:extLst>
              <a:ext uri="{FF2B5EF4-FFF2-40B4-BE49-F238E27FC236}">
                <a16:creationId xmlns:a16="http://schemas.microsoft.com/office/drawing/2014/main" xmlns="" id="{EC98FE67-B744-5CE0-8A6E-B0B386426F9C}"/>
              </a:ext>
            </a:extLst>
          </p:cNvPr>
          <p:cNvSpPr>
            <a:spLocks noGrp="1"/>
          </p:cNvSpPr>
          <p:nvPr>
            <p:ph idx="1"/>
          </p:nvPr>
        </p:nvSpPr>
        <p:spPr/>
        <p:txBody>
          <a:bodyPr>
            <a:normAutofit fontScale="92500" lnSpcReduction="20000"/>
          </a:bodyPr>
          <a:lstStyle/>
          <a:p>
            <a:pPr marL="0" algn="just">
              <a:lnSpc>
                <a:spcPct val="150000"/>
              </a:lnSpc>
              <a:spcBef>
                <a:spcPts val="1800"/>
              </a:spcBef>
            </a:pPr>
            <a:r>
              <a:rPr lang="en-IN" sz="2100" spc="-4" dirty="0">
                <a:solidFill>
                  <a:srgbClr val="292929"/>
                </a:solidFill>
                <a:latin typeface="Times New Roman" panose="02020603050405020304" pitchFamily="18" charset="0"/>
                <a:ea typeface="Times New Roman" panose="02020603050405020304" pitchFamily="18" charset="0"/>
              </a:rPr>
              <a:t> We will use </a:t>
            </a:r>
            <a:r>
              <a:rPr lang="en-IN" sz="2100" spc="-4" dirty="0" smtClean="0">
                <a:solidFill>
                  <a:srgbClr val="292929"/>
                </a:solidFill>
                <a:latin typeface="Times New Roman" panose="02020603050405020304" pitchFamily="18" charset="0"/>
                <a:ea typeface="Times New Roman" panose="02020603050405020304" pitchFamily="18" charset="0"/>
              </a:rPr>
              <a:t>LSTM+CNN </a:t>
            </a:r>
            <a:r>
              <a:rPr lang="en-IN" sz="2100" spc="-4" dirty="0">
                <a:solidFill>
                  <a:srgbClr val="292929"/>
                </a:solidFill>
                <a:latin typeface="Times New Roman" panose="02020603050405020304" pitchFamily="18" charset="0"/>
                <a:ea typeface="Times New Roman" panose="02020603050405020304" pitchFamily="18" charset="0"/>
              </a:rPr>
              <a:t>Classifier</a:t>
            </a:r>
            <a:r>
              <a:rPr lang="en-IN" sz="2100" i="1" spc="-4" dirty="0">
                <a:solidFill>
                  <a:srgbClr val="292929"/>
                </a:solidFill>
                <a:latin typeface="Times New Roman" panose="02020603050405020304" pitchFamily="18" charset="0"/>
                <a:ea typeface="Times New Roman" panose="02020603050405020304" pitchFamily="18" charset="0"/>
              </a:rPr>
              <a:t>, </a:t>
            </a:r>
            <a:r>
              <a:rPr lang="en-IN" sz="2100" spc="-4" dirty="0">
                <a:solidFill>
                  <a:srgbClr val="292929"/>
                </a:solidFill>
                <a:latin typeface="Times New Roman" panose="02020603050405020304" pitchFamily="18" charset="0"/>
                <a:ea typeface="Times New Roman" panose="02020603050405020304" pitchFamily="18" charset="0"/>
              </a:rPr>
              <a:t>which fits multiple decision to the data. Finally I train the model by passing </a:t>
            </a:r>
            <a:r>
              <a:rPr lang="en-IN" sz="2100" i="1" spc="-4" dirty="0" err="1">
                <a:solidFill>
                  <a:srgbClr val="292929"/>
                </a:solidFill>
                <a:latin typeface="Times New Roman" panose="02020603050405020304" pitchFamily="18" charset="0"/>
                <a:ea typeface="Times New Roman" panose="02020603050405020304" pitchFamily="18" charset="0"/>
              </a:rPr>
              <a:t>train_x</a:t>
            </a:r>
            <a:r>
              <a:rPr lang="en-IN" sz="2100" i="1" spc="-4" dirty="0">
                <a:solidFill>
                  <a:srgbClr val="292929"/>
                </a:solidFill>
                <a:latin typeface="Times New Roman" panose="02020603050405020304" pitchFamily="18" charset="0"/>
                <a:ea typeface="Times New Roman" panose="02020603050405020304" pitchFamily="18" charset="0"/>
              </a:rPr>
              <a:t>, </a:t>
            </a:r>
            <a:r>
              <a:rPr lang="en-IN" sz="2100" i="1" spc="-4" dirty="0" err="1">
                <a:solidFill>
                  <a:srgbClr val="292929"/>
                </a:solidFill>
                <a:latin typeface="Times New Roman" panose="02020603050405020304" pitchFamily="18" charset="0"/>
                <a:ea typeface="Times New Roman" panose="02020603050405020304" pitchFamily="18" charset="0"/>
              </a:rPr>
              <a:t>train_y</a:t>
            </a:r>
            <a:r>
              <a:rPr lang="en-IN" sz="2100" spc="-4" dirty="0">
                <a:solidFill>
                  <a:srgbClr val="292929"/>
                </a:solidFill>
                <a:latin typeface="Times New Roman" panose="02020603050405020304" pitchFamily="18" charset="0"/>
                <a:ea typeface="Times New Roman" panose="02020603050405020304" pitchFamily="18" charset="0"/>
              </a:rPr>
              <a:t> to the </a:t>
            </a:r>
            <a:r>
              <a:rPr lang="en-IN" sz="2100" i="1" spc="-4" dirty="0">
                <a:solidFill>
                  <a:srgbClr val="292929"/>
                </a:solidFill>
                <a:latin typeface="Times New Roman" panose="02020603050405020304" pitchFamily="18" charset="0"/>
                <a:ea typeface="Times New Roman" panose="02020603050405020304" pitchFamily="18" charset="0"/>
              </a:rPr>
              <a:t>fit</a:t>
            </a:r>
            <a:r>
              <a:rPr lang="en-IN" sz="2100" spc="-4" dirty="0">
                <a:solidFill>
                  <a:srgbClr val="292929"/>
                </a:solidFill>
                <a:latin typeface="Times New Roman" panose="02020603050405020304" pitchFamily="18" charset="0"/>
                <a:ea typeface="Times New Roman" panose="02020603050405020304" pitchFamily="18" charset="0"/>
              </a:rPr>
              <a:t> method.</a:t>
            </a:r>
            <a:endParaRPr lang="en-US" sz="2100" dirty="0">
              <a:latin typeface="Times New Roman" panose="02020603050405020304" pitchFamily="18" charset="0"/>
              <a:ea typeface="Times New Roman" panose="02020603050405020304" pitchFamily="18" charset="0"/>
            </a:endParaRPr>
          </a:p>
          <a:p>
            <a:pPr marL="0" algn="just">
              <a:lnSpc>
                <a:spcPct val="150000"/>
              </a:lnSpc>
              <a:spcBef>
                <a:spcPts val="0"/>
              </a:spcBef>
            </a:pP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pPr>
            <a:r>
              <a:rPr lang="en-IN" sz="2100" spc="-4" dirty="0">
                <a:solidFill>
                  <a:srgbClr val="292929"/>
                </a:solidFill>
                <a:latin typeface="Tamil"/>
                <a:ea typeface="Times New Roman" panose="02020603050405020304" pitchFamily="18" charset="0"/>
                <a:cs typeface="Times New Roman" panose="02020603050405020304" pitchFamily="18" charset="0"/>
              </a:rPr>
              <a:t>Once the model is trained, we need to Test the model. For that we will pass </a:t>
            </a:r>
            <a:r>
              <a:rPr lang="en-IN" sz="2100" i="1" spc="-4" dirty="0" err="1">
                <a:solidFill>
                  <a:srgbClr val="292929"/>
                </a:solidFill>
                <a:latin typeface="Tamil"/>
                <a:ea typeface="Times New Roman" panose="02020603050405020304" pitchFamily="18" charset="0"/>
                <a:cs typeface="Times New Roman" panose="02020603050405020304" pitchFamily="18" charset="0"/>
              </a:rPr>
              <a:t>test_x</a:t>
            </a:r>
            <a:r>
              <a:rPr lang="en-IN" sz="2100" spc="-4" dirty="0">
                <a:solidFill>
                  <a:srgbClr val="292929"/>
                </a:solidFill>
                <a:latin typeface="Tamil"/>
                <a:ea typeface="Times New Roman" panose="02020603050405020304" pitchFamily="18" charset="0"/>
                <a:cs typeface="Times New Roman" panose="02020603050405020304" pitchFamily="18" charset="0"/>
              </a:rPr>
              <a:t> to the predict method.</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indent="0">
              <a:lnSpc>
                <a:spcPct val="150000"/>
              </a:lnSpc>
              <a:spcBef>
                <a:spcPts val="0"/>
              </a:spcBef>
              <a:buNone/>
            </a:pPr>
            <a:r>
              <a:rPr lang="en-IN" sz="2100" dirty="0">
                <a:latin typeface="Tamil"/>
                <a:ea typeface="Times New Roman" panose="02020603050405020304" pitchFamily="18" charset="0"/>
                <a:cs typeface="Times New Roman" panose="02020603050405020304" pitchFamily="18" charset="0"/>
              </a:rPr>
              <a:t> </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pPr>
            <a:r>
              <a:rPr lang="en-IN" sz="21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2100" dirty="0" smtClean="0">
                <a:latin typeface="Times New Roman" panose="02020603050405020304" pitchFamily="18" charset="0"/>
                <a:ea typeface="Times New Roman" panose="02020603050405020304" pitchFamily="18" charset="0"/>
                <a:cs typeface="Times New Roman" panose="02020603050405020304" pitchFamily="18" charset="0"/>
              </a:rPr>
              <a:t>LSTM+CNN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is one of the most powerful methods that is used in machine learning for regression problems. The </a:t>
            </a:r>
            <a:r>
              <a:rPr lang="en-IN" sz="2100" dirty="0" smtClean="0">
                <a:latin typeface="Times New Roman" panose="02020603050405020304" pitchFamily="18" charset="0"/>
                <a:ea typeface="Times New Roman" panose="02020603050405020304" pitchFamily="18" charset="0"/>
                <a:cs typeface="Times New Roman" panose="02020603050405020304" pitchFamily="18" charset="0"/>
              </a:rPr>
              <a:t>CNN comes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in the category of the supervised regressor algorithm. This algorithm is carried out in two different stages the first one deals with the creation of the forest of the given dataset, and the other one deals with the </a:t>
            </a:r>
            <a:r>
              <a:rPr lang="en-IN" sz="2100" dirty="0">
                <a:latin typeface="TimesNewRomanPSMT"/>
                <a:ea typeface="Times New Roman" panose="02020603050405020304" pitchFamily="18" charset="0"/>
                <a:cs typeface="TimesNewRomanPSMT"/>
              </a:rPr>
              <a:t> </a:t>
            </a:r>
            <a:r>
              <a:rPr lang="en-IN" sz="2100" dirty="0">
                <a:latin typeface="Times New Roman" panose="02020603050405020304" pitchFamily="18" charset="0"/>
                <a:ea typeface="Times New Roman" panose="02020603050405020304" pitchFamily="18" charset="0"/>
                <a:cs typeface="Times New Roman" panose="02020603050405020304" pitchFamily="18" charset="0"/>
              </a:rPr>
              <a:t>prediction from the regressor.</a:t>
            </a: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endParaRPr lang="en-US" sz="210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66894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021A6F7-761B-E5DE-2071-FA1215C6226E}"/>
              </a:ext>
            </a:extLst>
          </p:cNvPr>
          <p:cNvSpPr>
            <a:spLocks noGrp="1"/>
          </p:cNvSpPr>
          <p:nvPr>
            <p:ph type="title"/>
          </p:nvPr>
        </p:nvSpPr>
        <p:spPr/>
        <p:txBody>
          <a:bodyPr>
            <a:normAutofit/>
          </a:bodyPr>
          <a:lstStyle/>
          <a:p>
            <a:r>
              <a:rPr lang="en-US" sz="405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4050" dirty="0" err="1">
                <a:effectLst/>
                <a:latin typeface="Times New Roman" panose="02020603050405020304" pitchFamily="18" charset="0"/>
                <a:ea typeface="Times New Roman" panose="02020603050405020304" pitchFamily="18" charset="0"/>
                <a:cs typeface="Times New Roman" panose="02020603050405020304" pitchFamily="18" charset="0"/>
              </a:rPr>
              <a:t>Analyze</a:t>
            </a:r>
            <a:r>
              <a:rPr lang="en-IN" sz="4050" dirty="0">
                <a:effectLst/>
                <a:latin typeface="Times New Roman" panose="02020603050405020304" pitchFamily="18" charset="0"/>
                <a:ea typeface="Times New Roman" panose="02020603050405020304" pitchFamily="18" charset="0"/>
                <a:cs typeface="Times New Roman" panose="02020603050405020304" pitchFamily="18" charset="0"/>
              </a:rPr>
              <a:t> and Prediction Module</a:t>
            </a:r>
            <a:endParaRPr lang="en-US" dirty="0"/>
          </a:p>
        </p:txBody>
      </p:sp>
      <p:sp>
        <p:nvSpPr>
          <p:cNvPr id="3" name="Content Placeholder 2">
            <a:extLst>
              <a:ext uri="{FF2B5EF4-FFF2-40B4-BE49-F238E27FC236}">
                <a16:creationId xmlns:a16="http://schemas.microsoft.com/office/drawing/2014/main" xmlns="" id="{B7FCE990-D8A6-F974-B9E0-BF008C3569F3}"/>
              </a:ext>
            </a:extLst>
          </p:cNvPr>
          <p:cNvSpPr>
            <a:spLocks noGrp="1"/>
          </p:cNvSpPr>
          <p:nvPr>
            <p:ph idx="1"/>
          </p:nvPr>
        </p:nvSpPr>
        <p:spPr/>
        <p:txBody>
          <a:bodyPr/>
          <a:lstStyle/>
          <a:p>
            <a:pPr marL="0" algn="just">
              <a:lnSpc>
                <a:spcPct val="150000"/>
              </a:lnSpc>
              <a:spcBef>
                <a:spcPts val="0"/>
              </a:spcBef>
              <a:spcAft>
                <a:spcPts val="750"/>
              </a:spcAft>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In the actual dataset, we chose only 3 features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PPG</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Sample</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err="1"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Phg</a:t>
            </a:r>
            <a:r>
              <a:rPr lang="en-IN" sz="1350"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Features   </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b="1" dirty="0">
                <a:latin typeface="Times New Roman" panose="02020603050405020304" pitchFamily="18" charset="0"/>
                <a:ea typeface="Times New Roman" panose="02020603050405020304" pitchFamily="18" charset="0"/>
                <a:cs typeface="Times New Roman" panose="02020603050405020304" pitchFamily="18" charset="0"/>
              </a:rPr>
              <a:t>Accuracy on 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pPr marL="0" algn="just">
              <a:lnSpc>
                <a:spcPct val="150000"/>
              </a:lnSpc>
              <a:spcBef>
                <a:spcPts val="0"/>
              </a:spcBef>
              <a:spcAft>
                <a:spcPts val="750"/>
              </a:spcAft>
            </a:pPr>
            <a:r>
              <a:rPr lang="en-IN" sz="1350" dirty="0">
                <a:latin typeface="Times New Roman" panose="02020603050405020304" pitchFamily="18" charset="0"/>
                <a:ea typeface="Times New Roman" panose="02020603050405020304" pitchFamily="18" charset="0"/>
                <a:cs typeface="Times New Roman" panose="02020603050405020304" pitchFamily="18" charset="0"/>
              </a:rPr>
              <a:t>We got a accuracy of </a:t>
            </a: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98.1</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a:t>
            </a:r>
            <a:r>
              <a:rPr lang="en-IN" sz="1350" dirty="0" smtClean="0">
                <a:latin typeface="Times New Roman" panose="02020603050405020304" pitchFamily="18" charset="0"/>
                <a:ea typeface="Times New Roman" panose="02020603050405020304" pitchFamily="18" charset="0"/>
                <a:cs typeface="Times New Roman" panose="02020603050405020304" pitchFamily="18" charset="0"/>
              </a:rPr>
              <a:t>97.1% on </a:t>
            </a:r>
            <a:r>
              <a:rPr lang="en-IN" sz="1350" dirty="0">
                <a:latin typeface="Times New Roman" panose="02020603050405020304" pitchFamily="18" charset="0"/>
                <a:ea typeface="Times New Roman" panose="02020603050405020304" pitchFamily="18" charset="0"/>
                <a:cs typeface="Times New Roman" panose="02020603050405020304" pitchFamily="18" charset="0"/>
              </a:rPr>
              <a:t>test set.</a:t>
            </a:r>
            <a:endParaRPr lang="en-US" sz="1350" dirty="0">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083856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7224" y="1571612"/>
            <a:ext cx="7620000" cy="4525963"/>
          </a:xfrm>
        </p:spPr>
        <p:txBody>
          <a:bodyPr/>
          <a:lstStyle/>
          <a:p>
            <a:pPr algn="just"/>
            <a:r>
              <a:rPr lang="en-US" sz="3000" dirty="0" smtClean="0">
                <a:latin typeface="Times New Roman" pitchFamily="18" charset="0"/>
                <a:cs typeface="Times New Roman" pitchFamily="18" charset="0"/>
              </a:rPr>
              <a:t>The objective of our study is to investigate a good method for automated analysis of breast images for the purpose of detecting and recognizing Cancer diseases.</a:t>
            </a:r>
          </a:p>
          <a:p>
            <a:pPr algn="just"/>
            <a:r>
              <a:rPr lang="en-US" sz="3000" dirty="0" smtClean="0">
                <a:latin typeface="Times New Roman" pitchFamily="18" charset="0"/>
                <a:cs typeface="Times New Roman" pitchFamily="18" charset="0"/>
              </a:rPr>
              <a:t>The proposed method can recognize with Cancer accurately, in comparison to other methods and is potentially a powerful tool for the recognition of Cancer diseases.</a:t>
            </a:r>
            <a:endParaRPr lang="en-GB" sz="3000" dirty="0">
              <a:latin typeface="Times New Roman" pitchFamily="18" charset="0"/>
              <a:cs typeface="Times New Roman" pitchFamily="18" charset="0"/>
            </a:endParaRPr>
          </a:p>
        </p:txBody>
      </p:sp>
      <p:sp>
        <p:nvSpPr>
          <p:cNvPr id="2" name="Title 1"/>
          <p:cNvSpPr>
            <a:spLocks noGrp="1"/>
          </p:cNvSpPr>
          <p:nvPr>
            <p:ph type="title"/>
          </p:nvPr>
        </p:nvSpPr>
        <p:spPr>
          <a:xfrm>
            <a:off x="714348" y="357166"/>
            <a:ext cx="7620000" cy="1143000"/>
          </a:xfrm>
        </p:spPr>
        <p:txBody>
          <a:bodyPr/>
          <a:lstStyle/>
          <a:p>
            <a:pPr algn="ctr"/>
            <a:r>
              <a:rPr lang="en-US" sz="4800" dirty="0" smtClean="0">
                <a:ln w="11430"/>
                <a:latin typeface="Algerian" pitchFamily="82" charset="0"/>
              </a:rPr>
              <a:t>Conclusion</a:t>
            </a:r>
            <a:endParaRPr lang="en-GB" sz="48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43174" y="2500306"/>
            <a:ext cx="3897221" cy="923330"/>
          </a:xfrm>
          <a:prstGeom prst="rect">
            <a:avLst/>
          </a:prstGeom>
          <a:noFill/>
        </p:spPr>
        <p:txBody>
          <a:bodyPr wrap="none" rtlCol="0">
            <a:spAutoFit/>
          </a:bodyPr>
          <a:lstStyle/>
          <a:p>
            <a:r>
              <a:rPr lang="en-US" sz="5400" dirty="0" smtClean="0">
                <a:latin typeface="Algerian" pitchFamily="82" charset="0"/>
              </a:rPr>
              <a:t>Thank you</a:t>
            </a:r>
            <a:endParaRPr lang="en-US" sz="5400" dirty="0">
              <a:latin typeface="Algerian" pitchFamily="82"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1810</TotalTime>
  <Words>974</Words>
  <Application>Microsoft Office PowerPoint</Application>
  <PresentationFormat>On-screen Show (4:3)</PresentationFormat>
  <Paragraphs>131</Paragraphs>
  <Slides>20</Slides>
  <Notes>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20</vt:i4>
      </vt:variant>
    </vt:vector>
  </HeadingPairs>
  <TitlesOfParts>
    <vt:vector size="35" baseType="lpstr">
      <vt:lpstr>Algerian</vt:lpstr>
      <vt:lpstr>Arial</vt:lpstr>
      <vt:lpstr>Calibri</vt:lpstr>
      <vt:lpstr>Latha</vt:lpstr>
      <vt:lpstr>Lucida Sans Unicode</vt:lpstr>
      <vt:lpstr>Segoe UI</vt:lpstr>
      <vt:lpstr>Tamil</vt:lpstr>
      <vt:lpstr>Times</vt:lpstr>
      <vt:lpstr>Times New Roman</vt:lpstr>
      <vt:lpstr>TimesNewRomanPSMT</vt:lpstr>
      <vt:lpstr>Verdana</vt:lpstr>
      <vt:lpstr>Wingdings</vt:lpstr>
      <vt:lpstr>Wingdings 2</vt:lpstr>
      <vt:lpstr>Wingdings 3</vt:lpstr>
      <vt:lpstr>Concourse</vt:lpstr>
      <vt:lpstr>Novel Method for breast Cancer  DETECTION USING Super Pixel and LSTM_CNN Algorithm </vt:lpstr>
      <vt:lpstr>ABSTRACT</vt:lpstr>
      <vt:lpstr> INTRODUCTION</vt:lpstr>
      <vt:lpstr>LITERATURE SURVEY</vt:lpstr>
      <vt:lpstr>Segmentation Algorithm</vt:lpstr>
      <vt:lpstr>Existing System</vt:lpstr>
      <vt:lpstr>PROBLEM DEFINITION</vt:lpstr>
      <vt:lpstr>PROPOSED Solution</vt:lpstr>
      <vt:lpstr>BLOCK DIAGRAM</vt:lpstr>
      <vt:lpstr>PowerPoint Presentation</vt:lpstr>
      <vt:lpstr>        ADVANTAGES</vt:lpstr>
      <vt:lpstr>DISADVANTAGES</vt:lpstr>
      <vt:lpstr>MODULES</vt:lpstr>
      <vt:lpstr>Data Collection:</vt:lpstr>
      <vt:lpstr>Data Preparation:</vt:lpstr>
      <vt:lpstr>Model Selection:</vt:lpstr>
      <vt:lpstr>Model Selection:</vt:lpstr>
      <vt:lpstr> Analyze and Prediction Module</vt:lpstr>
      <vt:lpstr>Conclusion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DIABETIC RETINOPATHY USING ARTIFICIAL NEURAL NETWORK</dc:title>
  <dc:creator>Windows</dc:creator>
  <cp:lastModifiedBy>Microsoft account</cp:lastModifiedBy>
  <cp:revision>226</cp:revision>
  <dcterms:created xsi:type="dcterms:W3CDTF">2010-08-02T07:10:40Z</dcterms:created>
  <dcterms:modified xsi:type="dcterms:W3CDTF">2023-10-31T06:05:07Z</dcterms:modified>
</cp:coreProperties>
</file>